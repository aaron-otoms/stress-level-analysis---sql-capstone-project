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8" r:id="rId1"/>
  </p:sldMasterIdLst>
  <p:sldIdLst>
    <p:sldId id="256" r:id="rId2"/>
    <p:sldId id="271" r:id="rId3"/>
    <p:sldId id="273" r:id="rId4"/>
    <p:sldId id="274" r:id="rId5"/>
    <p:sldId id="257" r:id="rId6"/>
    <p:sldId id="258" r:id="rId7"/>
    <p:sldId id="259" r:id="rId8"/>
    <p:sldId id="260" r:id="rId9"/>
    <p:sldId id="269" r:id="rId10"/>
    <p:sldId id="270" r:id="rId11"/>
    <p:sldId id="261" r:id="rId12"/>
    <p:sldId id="262" r:id="rId13"/>
    <p:sldId id="267" r:id="rId14"/>
    <p:sldId id="275" r:id="rId15"/>
    <p:sldId id="268" r:id="rId16"/>
  </p:sldIdLst>
  <p:sldSz cx="178816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56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7" d="100"/>
          <a:sy n="47" d="100"/>
        </p:scale>
        <p:origin x="84" y="144"/>
      </p:cViewPr>
      <p:guideLst>
        <p:guide orient="horz" pos="3168"/>
        <p:guide pos="56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cuments\Aaron%20otomofa%20stress_capstone%20visual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cuments\Aaron%20otomofa%20stress_capstone%20visual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ocuments\sql%20visuals%20capstone%20re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ocuments\sql%20visuals%20capstone%20re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ocuments\Aaron%20otomofa%20stress_capstone%20visual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ocuments\Aaron%20otomofa%20stress_capstone%20visual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visuals.xlsx]PHYSICAL SYMPTOMS!physical symptoms by count of id</c:name>
    <c:fmtId val="7"/>
  </c:pivotSource>
  <c:chart>
    <c:title>
      <c:tx>
        <c:rich>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800" b="1" u="sng">
                <a:solidFill>
                  <a:sysClr val="windowText" lastClr="000000"/>
                </a:solidFill>
                <a:latin typeface="Arial" panose="020B0604020202020204" pitchFamily="34" charset="0"/>
                <a:cs typeface="Arial" panose="020B0604020202020204" pitchFamily="34" charset="0"/>
              </a:rPr>
              <a:t>Physical</a:t>
            </a:r>
            <a:r>
              <a:rPr lang="en-US" sz="1800" b="1" u="sng" baseline="0">
                <a:solidFill>
                  <a:sysClr val="windowText" lastClr="000000"/>
                </a:solidFill>
                <a:latin typeface="Arial" panose="020B0604020202020204" pitchFamily="34" charset="0"/>
                <a:cs typeface="Arial" panose="020B0604020202020204" pitchFamily="34" charset="0"/>
              </a:rPr>
              <a:t> Symptoms By Total Employees</a:t>
            </a:r>
            <a:endParaRPr lang="en-US" sz="1800" b="1" u="sng">
              <a:solidFill>
                <a:sysClr val="windowText" lastClr="000000"/>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798180623406803"/>
          <c:y val="0.2407743091865111"/>
          <c:w val="0.67928270495272147"/>
          <c:h val="0.69627841331154361"/>
        </c:manualLayout>
      </c:layout>
      <c:barChart>
        <c:barDir val="bar"/>
        <c:grouping val="clustered"/>
        <c:varyColors val="0"/>
        <c:ser>
          <c:idx val="0"/>
          <c:order val="0"/>
          <c:tx>
            <c:strRef>
              <c:f>'PHYSICAL SYMPTOMS'!$B$3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'PHYSICAL SYMPTOMS'!$A$4:$A$14</c:f>
              <c:strCache>
                <c:ptCount val="10"/>
                <c:pt idx="0">
                  <c:v>Arthritis</c:v>
                </c:pt>
                <c:pt idx="1">
                  <c:v>stomach ache</c:v>
                </c:pt>
                <c:pt idx="2">
                  <c:v>Shortness of Breath</c:v>
                </c:pt>
                <c:pt idx="3">
                  <c:v>Arthritis Pain</c:v>
                </c:pt>
                <c:pt idx="4">
                  <c:v>Loss of Appetite</c:v>
                </c:pt>
                <c:pt idx="5">
                  <c:v>High Blood Pressure</c:v>
                </c:pt>
                <c:pt idx="6">
                  <c:v>Headache</c:v>
                </c:pt>
                <c:pt idx="7">
                  <c:v>Insomnia</c:v>
                </c:pt>
                <c:pt idx="8">
                  <c:v>Back Pain</c:v>
                </c:pt>
                <c:pt idx="9">
                  <c:v>Fatigue</c:v>
                </c:pt>
              </c:strCache>
            </c:strRef>
          </c:cat>
          <c:val>
            <c:numRef>
              <c:f>'PHYSICAL SYMPTOMS'!$B$4:$B$14</c:f>
              <c:numCache>
                <c:formatCode>General</c:formatCode>
                <c:ptCount val="10"/>
                <c:pt idx="0">
                  <c:v>14</c:v>
                </c:pt>
                <c:pt idx="1">
                  <c:v>21</c:v>
                </c:pt>
                <c:pt idx="2">
                  <c:v>25</c:v>
                </c:pt>
                <c:pt idx="3">
                  <c:v>28</c:v>
                </c:pt>
                <c:pt idx="4">
                  <c:v>54</c:v>
                </c:pt>
                <c:pt idx="5">
                  <c:v>676</c:v>
                </c:pt>
                <c:pt idx="6">
                  <c:v>809</c:v>
                </c:pt>
                <c:pt idx="7">
                  <c:v>947</c:v>
                </c:pt>
                <c:pt idx="8">
                  <c:v>1172</c:v>
                </c:pt>
                <c:pt idx="9">
                  <c:v>1254</c:v>
                </c:pt>
              </c:numCache>
            </c:numRef>
          </c:val>
          <c:extLst>
            <c:ext xmlns:c16="http://schemas.microsoft.com/office/drawing/2014/chart" uri="{C3380CC4-5D6E-409C-BE32-E72D297353CC}">
              <c16:uniqueId val="{00000000-043A-4752-99B9-2B7662E379D7}"/>
            </c:ext>
          </c:extLst>
        </c:ser>
        <c:dLbls>
          <c:dLblPos val="outEnd"/>
          <c:showLegendKey val="0"/>
          <c:showVal val="1"/>
          <c:showCatName val="0"/>
          <c:showSerName val="0"/>
          <c:showPercent val="0"/>
          <c:showBubbleSize val="0"/>
        </c:dLbls>
        <c:gapWidth val="237"/>
        <c:overlap val="7"/>
        <c:axId val="1528205744"/>
        <c:axId val="1528203424"/>
      </c:barChart>
      <c:catAx>
        <c:axId val="15282057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Calibri" panose="020F0502020204030204" pitchFamily="34" charset="0"/>
                <a:ea typeface="+mn-ea"/>
                <a:cs typeface="Calibri" panose="020F0502020204030204" pitchFamily="34" charset="0"/>
              </a:defRPr>
            </a:pPr>
            <a:endParaRPr lang="en-US"/>
          </a:p>
        </c:txPr>
        <c:crossAx val="1528203424"/>
        <c:crosses val="autoZero"/>
        <c:auto val="1"/>
        <c:lblAlgn val="ctr"/>
        <c:lblOffset val="100"/>
        <c:noMultiLvlLbl val="0"/>
      </c:catAx>
      <c:valAx>
        <c:axId val="1528203424"/>
        <c:scaling>
          <c:orientation val="minMax"/>
        </c:scaling>
        <c:delete val="1"/>
        <c:axPos val="b"/>
        <c:numFmt formatCode="General" sourceLinked="1"/>
        <c:majorTickMark val="none"/>
        <c:minorTickMark val="none"/>
        <c:tickLblPos val="nextTo"/>
        <c:crossAx val="15282057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visuals.xlsx]EMOTIONAL SYMPTOM!emotional symptoms by number of id</c:name>
    <c:fmtId val="12"/>
  </c:pivotSource>
  <c:chart>
    <c:title>
      <c:tx>
        <c:rich>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800" b="1" u="sng">
                <a:solidFill>
                  <a:sysClr val="windowText" lastClr="000000"/>
                </a:solidFill>
                <a:latin typeface="Arial" panose="020B0604020202020204" pitchFamily="34" charset="0"/>
                <a:cs typeface="Arial" panose="020B0604020202020204" pitchFamily="34" charset="0"/>
              </a:rPr>
              <a:t>Emotional</a:t>
            </a:r>
            <a:r>
              <a:rPr lang="en-US" sz="1800" b="1" u="sng" baseline="0">
                <a:solidFill>
                  <a:sysClr val="windowText" lastClr="000000"/>
                </a:solidFill>
                <a:latin typeface="Arial" panose="020B0604020202020204" pitchFamily="34" charset="0"/>
                <a:cs typeface="Arial" panose="020B0604020202020204" pitchFamily="34" charset="0"/>
              </a:rPr>
              <a:t> Symptom By Number Of Employees</a:t>
            </a:r>
            <a:endParaRPr lang="en-US" sz="1800" b="1" u="sng">
              <a:solidFill>
                <a:sysClr val="windowText" lastClr="000000"/>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0072859744990891E-2"/>
          <c:y val="0.22628566207247278"/>
          <c:w val="0.91985428051001816"/>
          <c:h val="0.39555400292947929"/>
        </c:manualLayout>
      </c:layout>
      <c:lineChart>
        <c:grouping val="stacked"/>
        <c:varyColors val="0"/>
        <c:ser>
          <c:idx val="0"/>
          <c:order val="0"/>
          <c:tx>
            <c:strRef>
              <c:f>'EMOTIONAL SYMPTOM'!$B$3</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ysClr val="windowText" lastClr="000000"/>
                    </a:solidFill>
                    <a:latin typeface="Calibri" panose="020F0502020204030204" pitchFamily="34" charset="0"/>
                    <a:ea typeface="+mn-ea"/>
                    <a:cs typeface="Calibri" panose="020F050202020403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'EMOTIONAL SYMPTOM'!$A$4:$A$12</c:f>
              <c:strCache>
                <c:ptCount val="8"/>
                <c:pt idx="0">
                  <c:v>Anger</c:v>
                </c:pt>
                <c:pt idx="1">
                  <c:v>Loneliness</c:v>
                </c:pt>
                <c:pt idx="2">
                  <c:v>Fear</c:v>
                </c:pt>
                <c:pt idx="3">
                  <c:v>Stress</c:v>
                </c:pt>
                <c:pt idx="4">
                  <c:v>Mood Swings</c:v>
                </c:pt>
                <c:pt idx="5">
                  <c:v>Irritability</c:v>
                </c:pt>
                <c:pt idx="6">
                  <c:v>Depression</c:v>
                </c:pt>
                <c:pt idx="7">
                  <c:v>Anxiety</c:v>
                </c:pt>
              </c:strCache>
            </c:strRef>
          </c:cat>
          <c:val>
            <c:numRef>
              <c:f>'EMOTIONAL SYMPTOM'!$B$4:$B$12</c:f>
              <c:numCache>
                <c:formatCode>General</c:formatCode>
                <c:ptCount val="8"/>
                <c:pt idx="0">
                  <c:v>33</c:v>
                </c:pt>
                <c:pt idx="1">
                  <c:v>43</c:v>
                </c:pt>
                <c:pt idx="2">
                  <c:v>51</c:v>
                </c:pt>
                <c:pt idx="3">
                  <c:v>672</c:v>
                </c:pt>
                <c:pt idx="4">
                  <c:v>728</c:v>
                </c:pt>
                <c:pt idx="5">
                  <c:v>971</c:v>
                </c:pt>
                <c:pt idx="6">
                  <c:v>1216</c:v>
                </c:pt>
                <c:pt idx="7">
                  <c:v>1286</c:v>
                </c:pt>
              </c:numCache>
            </c:numRef>
          </c:val>
          <c:smooth val="0"/>
          <c:extLst>
            <c:ext xmlns:c16="http://schemas.microsoft.com/office/drawing/2014/chart" uri="{C3380CC4-5D6E-409C-BE32-E72D297353CC}">
              <c16:uniqueId val="{00000000-058A-43E2-A359-719AB05DFB86}"/>
            </c:ext>
          </c:extLst>
        </c:ser>
        <c:dLbls>
          <c:showLegendKey val="0"/>
          <c:showVal val="1"/>
          <c:showCatName val="0"/>
          <c:showSerName val="0"/>
          <c:showPercent val="0"/>
          <c:showBubbleSize val="0"/>
        </c:dLbls>
        <c:marker val="1"/>
        <c:smooth val="0"/>
        <c:axId val="1369962720"/>
        <c:axId val="1369961792"/>
      </c:lineChart>
      <c:catAx>
        <c:axId val="1369962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369961792"/>
        <c:crosses val="autoZero"/>
        <c:auto val="1"/>
        <c:lblAlgn val="ctr"/>
        <c:lblOffset val="100"/>
        <c:noMultiLvlLbl val="0"/>
      </c:catAx>
      <c:valAx>
        <c:axId val="1369961792"/>
        <c:scaling>
          <c:orientation val="minMax"/>
        </c:scaling>
        <c:delete val="1"/>
        <c:axPos val="l"/>
        <c:numFmt formatCode="General" sourceLinked="1"/>
        <c:majorTickMark val="none"/>
        <c:minorTickMark val="none"/>
        <c:tickLblPos val="nextTo"/>
        <c:crossAx val="13699627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visuals.xlsx]EMOTIONAL SYMPTOM!PivotTable6</c:name>
    <c:fmtId val="6"/>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600" b="1" i="0" u="sng" baseline="0">
                <a:solidFill>
                  <a:sysClr val="windowText" lastClr="000000"/>
                </a:solidFill>
                <a:effectLst/>
                <a:latin typeface="Arial" panose="020B0604020202020204" pitchFamily="34" charset="0"/>
                <a:cs typeface="Arial" panose="020B0604020202020204" pitchFamily="34" charset="0"/>
              </a:rPr>
              <a:t>Emotional Symptom By Stress duration And Heart rate</a:t>
            </a:r>
            <a:endParaRPr lang="en-US" sz="1600">
              <a:solidFill>
                <a:sysClr val="windowText" lastClr="000000"/>
              </a:solidFill>
              <a:effectLst/>
              <a:latin typeface="Arial" panose="020B0604020202020204" pitchFamily="34" charset="0"/>
              <a:cs typeface="Arial" panose="020B0604020202020204" pitchFamily="34" charset="0"/>
            </a:endParaRPr>
          </a:p>
        </c:rich>
      </c:tx>
      <c:layout>
        <c:manualLayout>
          <c:xMode val="edge"/>
          <c:yMode val="edge"/>
          <c:x val="0.1412985564304462"/>
          <c:y val="3.7037037037037035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0" i="0" u="none"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
        <c:idx val="7"/>
        <c:spPr>
          <a:solidFill>
            <a:schemeClr val="accent1"/>
          </a:solidFill>
          <a:ln>
            <a:noFill/>
          </a:ln>
          <a:effectLst/>
        </c:spPr>
        <c:marker>
          <c:symbol val="none"/>
        </c:marker>
      </c:pivotFmt>
      <c:pivotFmt>
        <c:idx val="8"/>
        <c:spPr>
          <a:solidFill>
            <a:schemeClr val="accent1"/>
          </a:solidFill>
          <a:ln>
            <a:noFill/>
          </a:ln>
          <a:effectLst/>
        </c:spPr>
        <c:marker>
          <c:symbol val="none"/>
        </c:marker>
      </c:pivotFmt>
      <c:pivotFmt>
        <c:idx val="9"/>
        <c:spPr>
          <a:solidFill>
            <a:schemeClr val="accent1"/>
          </a:solidFill>
          <a:ln>
            <a:noFill/>
          </a:ln>
          <a:effectLst/>
        </c:spPr>
        <c:marker>
          <c:symbol val="none"/>
        </c:marker>
      </c:pivotFmt>
    </c:pivotFmts>
    <c:plotArea>
      <c:layout>
        <c:manualLayout>
          <c:layoutTarget val="inner"/>
          <c:xMode val="edge"/>
          <c:yMode val="edge"/>
          <c:x val="7.9247487362143348E-2"/>
          <c:y val="0.24346174217012112"/>
          <c:w val="0.64996894138232719"/>
          <c:h val="0.43164718759930787"/>
        </c:manualLayout>
      </c:layout>
      <c:barChart>
        <c:barDir val="col"/>
        <c:grouping val="clustered"/>
        <c:varyColors val="0"/>
        <c:ser>
          <c:idx val="0"/>
          <c:order val="0"/>
          <c:tx>
            <c:strRef>
              <c:f>'EMOTIONAL SYMPTOM'!$H$20</c:f>
              <c:strCache>
                <c:ptCount val="1"/>
                <c:pt idx="0">
                  <c:v>Average of Stress Duration</c:v>
                </c:pt>
              </c:strCache>
            </c:strRef>
          </c:tx>
          <c:spPr>
            <a:solidFill>
              <a:schemeClr val="accent1"/>
            </a:solidFill>
            <a:ln>
              <a:noFill/>
            </a:ln>
            <a:effectLst/>
          </c:spPr>
          <c:invertIfNegative val="0"/>
          <c:cat>
            <c:strRef>
              <c:f>'EMOTIONAL SYMPTOM'!$G$21:$G$29</c:f>
              <c:strCache>
                <c:ptCount val="8"/>
                <c:pt idx="0">
                  <c:v>Loneliness</c:v>
                </c:pt>
                <c:pt idx="1">
                  <c:v>Fear</c:v>
                </c:pt>
                <c:pt idx="2">
                  <c:v>Stress</c:v>
                </c:pt>
                <c:pt idx="3">
                  <c:v>Irritability</c:v>
                </c:pt>
                <c:pt idx="4">
                  <c:v>Mood Swings</c:v>
                </c:pt>
                <c:pt idx="5">
                  <c:v>Anxiety</c:v>
                </c:pt>
                <c:pt idx="6">
                  <c:v>Depression</c:v>
                </c:pt>
                <c:pt idx="7">
                  <c:v>Anger</c:v>
                </c:pt>
              </c:strCache>
            </c:strRef>
          </c:cat>
          <c:val>
            <c:numRef>
              <c:f>'EMOTIONAL SYMPTOM'!$H$21:$H$29</c:f>
              <c:numCache>
                <c:formatCode>0</c:formatCode>
                <c:ptCount val="8"/>
                <c:pt idx="0">
                  <c:v>87.744186046511629</c:v>
                </c:pt>
                <c:pt idx="1">
                  <c:v>90.039215686274517</c:v>
                </c:pt>
                <c:pt idx="2">
                  <c:v>91.635416666666671</c:v>
                </c:pt>
                <c:pt idx="3">
                  <c:v>92.780638516992795</c:v>
                </c:pt>
                <c:pt idx="4">
                  <c:v>93.47115384615384</c:v>
                </c:pt>
                <c:pt idx="5">
                  <c:v>93.955676516329703</c:v>
                </c:pt>
                <c:pt idx="6">
                  <c:v>95.219572368421055</c:v>
                </c:pt>
                <c:pt idx="7">
                  <c:v>105.63636363636364</c:v>
                </c:pt>
              </c:numCache>
            </c:numRef>
          </c:val>
          <c:extLst>
            <c:ext xmlns:c16="http://schemas.microsoft.com/office/drawing/2014/chart" uri="{C3380CC4-5D6E-409C-BE32-E72D297353CC}">
              <c16:uniqueId val="{00000000-2CA3-4A79-818C-B0653274BDAB}"/>
            </c:ext>
          </c:extLst>
        </c:ser>
        <c:ser>
          <c:idx val="1"/>
          <c:order val="1"/>
          <c:tx>
            <c:strRef>
              <c:f>'EMOTIONAL SYMPTOM'!$I$20</c:f>
              <c:strCache>
                <c:ptCount val="1"/>
                <c:pt idx="0">
                  <c:v>Average of Heart Rate</c:v>
                </c:pt>
              </c:strCache>
            </c:strRef>
          </c:tx>
          <c:spPr>
            <a:solidFill>
              <a:schemeClr val="accent2"/>
            </a:solidFill>
            <a:ln>
              <a:noFill/>
            </a:ln>
            <a:effectLst/>
          </c:spPr>
          <c:invertIfNegative val="0"/>
          <c:cat>
            <c:strRef>
              <c:f>'EMOTIONAL SYMPTOM'!$G$21:$G$29</c:f>
              <c:strCache>
                <c:ptCount val="8"/>
                <c:pt idx="0">
                  <c:v>Loneliness</c:v>
                </c:pt>
                <c:pt idx="1">
                  <c:v>Fear</c:v>
                </c:pt>
                <c:pt idx="2">
                  <c:v>Stress</c:v>
                </c:pt>
                <c:pt idx="3">
                  <c:v>Irritability</c:v>
                </c:pt>
                <c:pt idx="4">
                  <c:v>Mood Swings</c:v>
                </c:pt>
                <c:pt idx="5">
                  <c:v>Anxiety</c:v>
                </c:pt>
                <c:pt idx="6">
                  <c:v>Depression</c:v>
                </c:pt>
                <c:pt idx="7">
                  <c:v>Anger</c:v>
                </c:pt>
              </c:strCache>
            </c:strRef>
          </c:cat>
          <c:val>
            <c:numRef>
              <c:f>'EMOTIONAL SYMPTOM'!$I$21:$I$29</c:f>
              <c:numCache>
                <c:formatCode>0</c:formatCode>
                <c:ptCount val="8"/>
                <c:pt idx="0">
                  <c:v>85.674418604651166</c:v>
                </c:pt>
                <c:pt idx="1">
                  <c:v>94.137254901960787</c:v>
                </c:pt>
                <c:pt idx="2">
                  <c:v>92.654761904761898</c:v>
                </c:pt>
                <c:pt idx="3">
                  <c:v>92.489186405767256</c:v>
                </c:pt>
                <c:pt idx="4">
                  <c:v>92.723901098901095</c:v>
                </c:pt>
                <c:pt idx="5">
                  <c:v>92.087091757387242</c:v>
                </c:pt>
                <c:pt idx="6">
                  <c:v>92.669407894736835</c:v>
                </c:pt>
                <c:pt idx="7">
                  <c:v>98.030303030303031</c:v>
                </c:pt>
              </c:numCache>
            </c:numRef>
          </c:val>
          <c:extLst>
            <c:ext xmlns:c16="http://schemas.microsoft.com/office/drawing/2014/chart" uri="{C3380CC4-5D6E-409C-BE32-E72D297353CC}">
              <c16:uniqueId val="{00000001-2CA3-4A79-818C-B0653274BDAB}"/>
            </c:ext>
          </c:extLst>
        </c:ser>
        <c:dLbls>
          <c:showLegendKey val="0"/>
          <c:showVal val="0"/>
          <c:showCatName val="0"/>
          <c:showSerName val="0"/>
          <c:showPercent val="0"/>
          <c:showBubbleSize val="0"/>
        </c:dLbls>
        <c:gapWidth val="219"/>
        <c:overlap val="-27"/>
        <c:axId val="1758035824"/>
        <c:axId val="1758045104"/>
      </c:barChart>
      <c:catAx>
        <c:axId val="1758035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crossAx val="1758045104"/>
        <c:crosses val="autoZero"/>
        <c:auto val="1"/>
        <c:lblAlgn val="ctr"/>
        <c:lblOffset val="100"/>
        <c:noMultiLvlLbl val="0"/>
      </c:catAx>
      <c:valAx>
        <c:axId val="175804510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Calibri" panose="020F0502020204030204" pitchFamily="34" charset="0"/>
                <a:ea typeface="+mn-ea"/>
                <a:cs typeface="Calibri" panose="020F0502020204030204" pitchFamily="34" charset="0"/>
              </a:defRPr>
            </a:pPr>
            <a:endParaRPr lang="en-US"/>
          </a:p>
        </c:txPr>
        <c:crossAx val="1758035824"/>
        <c:crosses val="autoZero"/>
        <c:crossBetween val="between"/>
      </c:valAx>
      <c:spPr>
        <a:noFill/>
        <a:ln>
          <a:noFill/>
        </a:ln>
        <a:effectLst/>
      </c:spPr>
    </c:plotArea>
    <c:legend>
      <c:legendPos val="r"/>
      <c:layout>
        <c:manualLayout>
          <c:xMode val="edge"/>
          <c:yMode val="edge"/>
          <c:x val="0.72808039531606794"/>
          <c:y val="0.30936605051863847"/>
          <c:w val="0.23745013123359579"/>
          <c:h val="0.5516310890145615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visuals.xlsx]SEVERITY AND SLEEP QUALITY!PivotTable20</c:name>
    <c:fmtId val="11"/>
  </c:pivotSource>
  <c:chart>
    <c:title>
      <c:tx>
        <c:rich>
          <a:bodyPr rot="0" spcFirstLastPara="1" vertOverflow="ellipsis" vert="horz" wrap="square" anchor="ctr" anchorCtr="1"/>
          <a:lstStyle/>
          <a:p>
            <a:pPr>
              <a:defRPr sz="16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600" b="1" u="sng">
                <a:solidFill>
                  <a:sysClr val="windowText" lastClr="000000"/>
                </a:solidFill>
                <a:latin typeface="Arial" panose="020B0604020202020204" pitchFamily="34" charset="0"/>
                <a:cs typeface="Arial" panose="020B0604020202020204" pitchFamily="34" charset="0"/>
              </a:rPr>
              <a:t>Cortisol</a:t>
            </a:r>
            <a:r>
              <a:rPr lang="en-US" sz="1600" b="1" u="sng" baseline="0">
                <a:solidFill>
                  <a:sysClr val="windowText" lastClr="000000"/>
                </a:solidFill>
                <a:latin typeface="Arial" panose="020B0604020202020204" pitchFamily="34" charset="0"/>
                <a:cs typeface="Arial" panose="020B0604020202020204" pitchFamily="34" charset="0"/>
              </a:rPr>
              <a:t> Level By Time Of Day</a:t>
            </a:r>
            <a:endParaRPr lang="en-US" sz="1600" b="1" u="sng">
              <a:solidFill>
                <a:sysClr val="windowText" lastClr="000000"/>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6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pivotFmt>
    </c:pivotFmts>
    <c:plotArea>
      <c:layout/>
      <c:lineChart>
        <c:grouping val="standard"/>
        <c:varyColors val="0"/>
        <c:ser>
          <c:idx val="0"/>
          <c:order val="0"/>
          <c:tx>
            <c:strRef>
              <c:f>'SEVERITY AND SLEEP QUALITY'!$B$10</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'SEVERITY AND SLEEP QUALITY'!$A$11:$A$23</c:f>
              <c:strCache>
                <c:ptCount val="12"/>
                <c:pt idx="0">
                  <c:v>8 AM</c:v>
                </c:pt>
                <c:pt idx="1">
                  <c:v>9 AM</c:v>
                </c:pt>
                <c:pt idx="2">
                  <c:v>10 AM</c:v>
                </c:pt>
                <c:pt idx="3">
                  <c:v>11 AM</c:v>
                </c:pt>
                <c:pt idx="4">
                  <c:v>12 PM</c:v>
                </c:pt>
                <c:pt idx="5">
                  <c:v>1 PM</c:v>
                </c:pt>
                <c:pt idx="6">
                  <c:v>2 PM</c:v>
                </c:pt>
                <c:pt idx="7">
                  <c:v>3 PM</c:v>
                </c:pt>
                <c:pt idx="8">
                  <c:v>4 PM</c:v>
                </c:pt>
                <c:pt idx="9">
                  <c:v>5 PM</c:v>
                </c:pt>
                <c:pt idx="10">
                  <c:v>6 PM</c:v>
                </c:pt>
                <c:pt idx="11">
                  <c:v>7 PM</c:v>
                </c:pt>
              </c:strCache>
            </c:strRef>
          </c:cat>
          <c:val>
            <c:numRef>
              <c:f>'SEVERITY AND SLEEP QUALITY'!$B$11:$B$23</c:f>
              <c:numCache>
                <c:formatCode>0.00</c:formatCode>
                <c:ptCount val="12"/>
                <c:pt idx="0">
                  <c:v>15.772684752104771</c:v>
                </c:pt>
                <c:pt idx="1">
                  <c:v>15.138972809667674</c:v>
                </c:pt>
                <c:pt idx="2">
                  <c:v>15.387024608501118</c:v>
                </c:pt>
                <c:pt idx="3">
                  <c:v>15.48729792147806</c:v>
                </c:pt>
                <c:pt idx="4">
                  <c:v>16.127472527472527</c:v>
                </c:pt>
                <c:pt idx="5">
                  <c:v>15.726027397260275</c:v>
                </c:pt>
                <c:pt idx="6">
                  <c:v>15.337209302325581</c:v>
                </c:pt>
                <c:pt idx="7">
                  <c:v>15.734597156398104</c:v>
                </c:pt>
                <c:pt idx="8">
                  <c:v>15.290178571428571</c:v>
                </c:pt>
                <c:pt idx="9">
                  <c:v>15.215859030837004</c:v>
                </c:pt>
                <c:pt idx="10">
                  <c:v>15.294117647058824</c:v>
                </c:pt>
                <c:pt idx="11">
                  <c:v>15.345000000000001</c:v>
                </c:pt>
              </c:numCache>
            </c:numRef>
          </c:val>
          <c:smooth val="0"/>
          <c:extLst>
            <c:ext xmlns:c16="http://schemas.microsoft.com/office/drawing/2014/chart" uri="{C3380CC4-5D6E-409C-BE32-E72D297353CC}">
              <c16:uniqueId val="{00000000-BC6C-4984-8443-F621C16A9931}"/>
            </c:ext>
          </c:extLst>
        </c:ser>
        <c:dLbls>
          <c:showLegendKey val="0"/>
          <c:showVal val="0"/>
          <c:showCatName val="0"/>
          <c:showSerName val="0"/>
          <c:showPercent val="0"/>
          <c:showBubbleSize val="0"/>
        </c:dLbls>
        <c:marker val="1"/>
        <c:smooth val="0"/>
        <c:axId val="1856431648"/>
        <c:axId val="1856416336"/>
      </c:lineChart>
      <c:catAx>
        <c:axId val="1856431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Calibri" panose="020F0502020204030204" pitchFamily="34" charset="0"/>
                <a:ea typeface="+mn-ea"/>
                <a:cs typeface="Calibri" panose="020F0502020204030204" pitchFamily="34" charset="0"/>
              </a:defRPr>
            </a:pPr>
            <a:endParaRPr lang="en-US"/>
          </a:p>
        </c:txPr>
        <c:crossAx val="1856416336"/>
        <c:crosses val="autoZero"/>
        <c:auto val="1"/>
        <c:lblAlgn val="ctr"/>
        <c:lblOffset val="100"/>
        <c:noMultiLvlLbl val="0"/>
      </c:catAx>
      <c:valAx>
        <c:axId val="185641633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564316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visuals.xlsx]STRESS SOURCE!PivotTable12</c:name>
    <c:fmtId val="5"/>
  </c:pivotSource>
  <c:chart>
    <c:title>
      <c:tx>
        <c:rich>
          <a:bodyPr rot="0" spcFirstLastPara="1" vertOverflow="ellipsis" vert="horz" wrap="square" anchor="ctr" anchorCtr="1"/>
          <a:lstStyle/>
          <a:p>
            <a:pPr>
              <a:defRPr sz="16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600" b="1" u="sng">
                <a:solidFill>
                  <a:sysClr val="windowText" lastClr="000000"/>
                </a:solidFill>
                <a:latin typeface="Arial" panose="020B0604020202020204" pitchFamily="34" charset="0"/>
                <a:cs typeface="Arial" panose="020B0604020202020204" pitchFamily="34" charset="0"/>
              </a:rPr>
              <a:t>Stress</a:t>
            </a:r>
            <a:r>
              <a:rPr lang="en-US" sz="1600" b="1" u="sng" baseline="0">
                <a:solidFill>
                  <a:sysClr val="windowText" lastClr="000000"/>
                </a:solidFill>
                <a:latin typeface="Arial" panose="020B0604020202020204" pitchFamily="34" charset="0"/>
                <a:cs typeface="Arial" panose="020B0604020202020204" pitchFamily="34" charset="0"/>
              </a:rPr>
              <a:t> Source By Number of Employees</a:t>
            </a:r>
            <a:endParaRPr lang="en-US" sz="1600" b="1" u="sng">
              <a:solidFill>
                <a:sysClr val="windowText" lastClr="000000"/>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6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3791472967843154E-2"/>
          <c:y val="0.21628150335354066"/>
          <c:w val="0.85006827295039911"/>
          <c:h val="0.35757804651218333"/>
        </c:manualLayout>
      </c:layout>
      <c:barChart>
        <c:barDir val="col"/>
        <c:grouping val="clustered"/>
        <c:varyColors val="0"/>
        <c:ser>
          <c:idx val="0"/>
          <c:order val="0"/>
          <c:tx>
            <c:strRef>
              <c:f>'STRESS SOURCE'!$I$3</c:f>
              <c:strCache>
                <c:ptCount val="1"/>
                <c:pt idx="0">
                  <c:v>Total</c:v>
                </c:pt>
              </c:strCache>
            </c:strRef>
          </c:tx>
          <c:spPr>
            <a:solidFill>
              <a:schemeClr val="accent1"/>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'STRESS SOURCE'!$H$4:$H$14</c:f>
              <c:strCache>
                <c:ptCount val="10"/>
                <c:pt idx="0">
                  <c:v>Loss of Loved Ones</c:v>
                </c:pt>
                <c:pt idx="1">
                  <c:v>Social Media</c:v>
                </c:pt>
                <c:pt idx="2">
                  <c:v>Bullying</c:v>
                </c:pt>
                <c:pt idx="3">
                  <c:v>Loneliness</c:v>
                </c:pt>
                <c:pt idx="4">
                  <c:v>School</c:v>
                </c:pt>
                <c:pt idx="5">
                  <c:v>Relationships</c:v>
                </c:pt>
                <c:pt idx="6">
                  <c:v>Health</c:v>
                </c:pt>
                <c:pt idx="7">
                  <c:v>Family Issues</c:v>
                </c:pt>
                <c:pt idx="8">
                  <c:v>Financial Issues</c:v>
                </c:pt>
                <c:pt idx="9">
                  <c:v>Work</c:v>
                </c:pt>
              </c:strCache>
            </c:strRef>
          </c:cat>
          <c:val>
            <c:numRef>
              <c:f>'STRESS SOURCE'!$I$4:$I$14</c:f>
              <c:numCache>
                <c:formatCode>General</c:formatCode>
                <c:ptCount val="10"/>
                <c:pt idx="0">
                  <c:v>20</c:v>
                </c:pt>
                <c:pt idx="1">
                  <c:v>20</c:v>
                </c:pt>
                <c:pt idx="2">
                  <c:v>29</c:v>
                </c:pt>
                <c:pt idx="3">
                  <c:v>36</c:v>
                </c:pt>
                <c:pt idx="4">
                  <c:v>36</c:v>
                </c:pt>
                <c:pt idx="5">
                  <c:v>515</c:v>
                </c:pt>
                <c:pt idx="6">
                  <c:v>783</c:v>
                </c:pt>
                <c:pt idx="7">
                  <c:v>998</c:v>
                </c:pt>
                <c:pt idx="8">
                  <c:v>1224</c:v>
                </c:pt>
                <c:pt idx="9">
                  <c:v>1339</c:v>
                </c:pt>
              </c:numCache>
            </c:numRef>
          </c:val>
          <c:extLst>
            <c:ext xmlns:c16="http://schemas.microsoft.com/office/drawing/2014/chart" uri="{C3380CC4-5D6E-409C-BE32-E72D297353CC}">
              <c16:uniqueId val="{00000000-133E-4E8B-A4A3-C3F1B3DC1465}"/>
            </c:ext>
          </c:extLst>
        </c:ser>
        <c:dLbls>
          <c:showLegendKey val="0"/>
          <c:showVal val="0"/>
          <c:showCatName val="0"/>
          <c:showSerName val="0"/>
          <c:showPercent val="0"/>
          <c:showBubbleSize val="0"/>
        </c:dLbls>
        <c:gapWidth val="150"/>
        <c:axId val="1850509696"/>
        <c:axId val="1850515264"/>
      </c:barChart>
      <c:valAx>
        <c:axId val="1850515264"/>
        <c:scaling>
          <c:orientation val="minMax"/>
        </c:scaling>
        <c:delete val="1"/>
        <c:axPos val="l"/>
        <c:numFmt formatCode="General" sourceLinked="1"/>
        <c:majorTickMark val="out"/>
        <c:minorTickMark val="none"/>
        <c:tickLblPos val="nextTo"/>
        <c:crossAx val="1850509696"/>
        <c:crosses val="autoZero"/>
        <c:crossBetween val="between"/>
      </c:valAx>
      <c:catAx>
        <c:axId val="18505096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1850515264"/>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[Aaron otomofa stress_capstone visuals.xlsx]SEVERITY AND SLEEP QUALITY!PivotTable17</c:name>
    <c:fmtId val="7"/>
  </c:pivotSource>
  <c:chart>
    <c:title>
      <c:tx>
        <c:rich>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r>
              <a:rPr lang="en-US" sz="1800" b="1" u="sng">
                <a:solidFill>
                  <a:sysClr val="windowText" lastClr="000000"/>
                </a:solidFill>
                <a:latin typeface="Arial" panose="020B0604020202020204" pitchFamily="34" charset="0"/>
                <a:cs typeface="Arial" panose="020B0604020202020204" pitchFamily="34" charset="0"/>
              </a:rPr>
              <a:t>Stress</a:t>
            </a:r>
            <a:r>
              <a:rPr lang="en-US" sz="1800" b="1" u="sng" baseline="0">
                <a:solidFill>
                  <a:sysClr val="windowText" lastClr="000000"/>
                </a:solidFill>
                <a:latin typeface="Arial" panose="020B0604020202020204" pitchFamily="34" charset="0"/>
                <a:cs typeface="Arial" panose="020B0604020202020204" pitchFamily="34" charset="0"/>
              </a:rPr>
              <a:t> </a:t>
            </a:r>
            <a:r>
              <a:rPr lang="en-US" sz="1800" b="1" u="sng">
                <a:solidFill>
                  <a:sysClr val="windowText" lastClr="000000"/>
                </a:solidFill>
                <a:latin typeface="Arial" panose="020B0604020202020204" pitchFamily="34" charset="0"/>
                <a:cs typeface="Arial" panose="020B0604020202020204" pitchFamily="34" charset="0"/>
              </a:rPr>
              <a:t>Severity</a:t>
            </a:r>
            <a:r>
              <a:rPr lang="en-US" sz="1800" b="1" u="sng" baseline="0">
                <a:solidFill>
                  <a:sysClr val="windowText" lastClr="000000"/>
                </a:solidFill>
                <a:latin typeface="Arial" panose="020B0604020202020204" pitchFamily="34" charset="0"/>
                <a:cs typeface="Arial" panose="020B0604020202020204" pitchFamily="34" charset="0"/>
              </a:rPr>
              <a:t> By Number Of Employees</a:t>
            </a:r>
            <a:endParaRPr lang="en-US" sz="1800" b="1" u="sng">
              <a:solidFill>
                <a:sysClr val="windowText" lastClr="000000"/>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00" b="1" i="0" u="sng" strike="noStrike" kern="1200" spc="0" baseline="0">
              <a:solidFill>
                <a:sysClr val="windowText" lastClr="000000"/>
              </a:solidFill>
              <a:latin typeface="Arial" panose="020B0604020202020204" pitchFamily="34" charset="0"/>
              <a:ea typeface="+mn-ea"/>
              <a:cs typeface="Arial" panose="020B060402020202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3"/>
          </a:solidFill>
          <a:ln>
            <a:noFill/>
          </a:ln>
          <a:effectLst/>
        </c:spPr>
        <c:dLbl>
          <c:idx val="0"/>
          <c:layout>
            <c:manualLayout>
              <c:x val="0.12384886264216972"/>
              <c:y val="0.18750036453776608"/>
            </c:manualLayout>
          </c:layout>
          <c:spPr>
            <a:noFill/>
            <a:ln>
              <a:noFill/>
            </a:ln>
            <a:effectLst/>
          </c:spPr>
          <c:txPr>
            <a:bodyPr rot="0" spcFirstLastPara="1" vertOverflow="clip" horzOverflow="clip" vert="horz" wrap="square" lIns="38100" tIns="19050" rIns="38100" bIns="19050" anchor="ctr" anchorCtr="0">
              <a:noAutofit/>
            </a:bodyPr>
            <a:lstStyle/>
            <a:p>
              <a:pPr>
                <a:defRPr sz="12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Lst>
        </c:dLbl>
      </c:pivotFmt>
      <c:pivotFmt>
        <c:idx val="2"/>
        <c:spPr>
          <a:solidFill>
            <a:schemeClr val="accent1"/>
          </a:solidFill>
          <a:ln>
            <a:noFill/>
          </a:ln>
          <a:effectLst/>
        </c:spPr>
        <c:marker>
          <c:symbol val="none"/>
        </c:marker>
        <c:dLbl>
          <c:idx val="0"/>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dLbl>
          <c:idx val="0"/>
          <c:layout>
            <c:manualLayout>
              <c:x val="0.12384886264216972"/>
              <c:y val="0.18750036453776608"/>
            </c:manualLayout>
          </c:layout>
          <c:spPr>
            <a:noFill/>
            <a:ln>
              <a:noFill/>
            </a:ln>
            <a:effectLst/>
          </c:spPr>
          <c:txPr>
            <a:bodyPr rot="0" spcFirstLastPara="1" vertOverflow="clip" horzOverflow="clip" vert="horz" wrap="square" lIns="38100" tIns="19050" rIns="38100" bIns="19050" anchor="ctr" anchorCtr="0">
              <a:noAutofit/>
            </a:bodyPr>
            <a:lstStyle/>
            <a:p>
              <a:pPr>
                <a:defRPr sz="12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Lst>
        </c:dLbl>
      </c:pivotFmt>
      <c:pivotFmt>
        <c:idx val="6"/>
        <c:spPr>
          <a:solidFill>
            <a:schemeClr val="accent1"/>
          </a:solidFill>
          <a:ln>
            <a:noFill/>
          </a:ln>
          <a:effectLst/>
        </c:spPr>
        <c:marker>
          <c:symbol val="none"/>
        </c:marker>
        <c:dLbl>
          <c:idx val="0"/>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dLbl>
          <c:idx val="0"/>
          <c:layout>
            <c:manualLayout>
              <c:x val="0.13277746531683535"/>
              <c:y val="0.1875001801245432"/>
            </c:manualLayout>
          </c:layout>
          <c:spPr>
            <a:noFill/>
            <a:ln>
              <a:noFill/>
            </a:ln>
            <a:effectLst/>
          </c:spPr>
          <c:txPr>
            <a:bodyPr rot="0" spcFirstLastPara="1" vertOverflow="clip" horzOverflow="clip" vert="horz" wrap="square" lIns="38100" tIns="19050" rIns="38100" bIns="19050" anchor="ctr" anchorCtr="0">
              <a:noAutofit/>
            </a:bodyPr>
            <a:lstStyle/>
            <a:p>
              <a:pPr>
                <a:defRPr sz="105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Lst>
        </c:dLbl>
      </c:pivotFmt>
      <c:pivotFmt>
        <c:idx val="10"/>
        <c:spPr>
          <a:solidFill>
            <a:schemeClr val="accent1"/>
          </a:solidFill>
          <a:ln>
            <a:noFill/>
          </a:ln>
          <a:effectLst/>
        </c:spPr>
        <c:marker>
          <c:symbol val="none"/>
        </c:marker>
        <c:dLbl>
          <c:idx val="0"/>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dLbl>
          <c:idx val="0"/>
          <c:layout>
            <c:manualLayout>
              <c:x val="0.13277746531683535"/>
              <c:y val="0.1875001801245432"/>
            </c:manualLayout>
          </c:layout>
          <c:spPr>
            <a:noFill/>
            <a:ln>
              <a:noFill/>
            </a:ln>
            <a:effectLst/>
          </c:spPr>
          <c:txPr>
            <a:bodyPr rot="0" spcFirstLastPara="1" vertOverflow="clip" horzOverflow="clip" vert="horz" wrap="square" lIns="38100" tIns="19050" rIns="38100" bIns="19050" anchor="ctr" anchorCtr="0">
              <a:noAutofit/>
            </a:bodyPr>
            <a:lstStyle/>
            <a:p>
              <a:pPr>
                <a:defRPr sz="105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Lst>
        </c:dLbl>
      </c:pivotFmt>
      <c:pivotFmt>
        <c:idx val="14"/>
        <c:spPr>
          <a:solidFill>
            <a:schemeClr val="accent1"/>
          </a:solidFill>
          <a:ln>
            <a:noFill/>
          </a:ln>
          <a:effectLst/>
        </c:spPr>
        <c:marker>
          <c:symbol val="none"/>
        </c:marker>
        <c:dLbl>
          <c:idx val="0"/>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2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5"/>
        <c:spPr>
          <a:solidFill>
            <a:schemeClr val="accent1"/>
          </a:solidFill>
          <a:ln>
            <a:noFill/>
          </a:ln>
          <a:effectLst/>
        </c:spPr>
      </c:pivotFmt>
      <c:pivotFmt>
        <c:idx val="16"/>
        <c:spPr>
          <a:solidFill>
            <a:schemeClr val="accent1"/>
          </a:solidFill>
          <a:ln>
            <a:noFill/>
          </a:ln>
          <a:effectLst/>
        </c:spPr>
      </c:pivotFmt>
      <c:pivotFmt>
        <c:idx val="17"/>
        <c:spPr>
          <a:solidFill>
            <a:schemeClr val="accent1"/>
          </a:solidFill>
          <a:ln>
            <a:noFill/>
          </a:ln>
          <a:effectLst/>
        </c:spPr>
        <c:dLbl>
          <c:idx val="0"/>
          <c:layout>
            <c:manualLayout>
              <c:x val="0.13277746531683535"/>
              <c:y val="0.1875001801245432"/>
            </c:manualLayout>
          </c:layout>
          <c:spPr>
            <a:noFill/>
            <a:ln>
              <a:noFill/>
            </a:ln>
            <a:effectLst/>
          </c:spPr>
          <c:txPr>
            <a:bodyPr rot="0" spcFirstLastPara="1" vertOverflow="clip" horzOverflow="clip" vert="horz" wrap="square" lIns="38100" tIns="19050" rIns="38100" bIns="19050" anchor="ctr" anchorCtr="0">
              <a:noAutofit/>
            </a:bodyPr>
            <a:lstStyle/>
            <a:p>
              <a:pPr>
                <a:defRPr sz="105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Lst>
        </c:dLbl>
      </c:pivotFmt>
    </c:pivotFmts>
    <c:plotArea>
      <c:layout>
        <c:manualLayout>
          <c:layoutTarget val="inner"/>
          <c:xMode val="edge"/>
          <c:yMode val="edge"/>
          <c:x val="0.15428490615961535"/>
          <c:y val="0.2369531512391724"/>
          <c:w val="0.42578224651234936"/>
          <c:h val="0.75936832019828837"/>
        </c:manualLayout>
      </c:layout>
      <c:pieChart>
        <c:varyColors val="1"/>
        <c:ser>
          <c:idx val="0"/>
          <c:order val="0"/>
          <c:tx>
            <c:strRef>
              <c:f>'SEVERITY AND SLEEP QUALITY'!$B$3</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F1AD-47B3-BD41-D163BB9D9ECB}"/>
              </c:ext>
            </c:extLst>
          </c:dPt>
          <c:dPt>
            <c:idx val="1"/>
            <c:bubble3D val="0"/>
            <c:spPr>
              <a:solidFill>
                <a:schemeClr val="accent2"/>
              </a:solidFill>
              <a:ln>
                <a:noFill/>
              </a:ln>
              <a:effectLst/>
            </c:spPr>
            <c:extLst>
              <c:ext xmlns:c16="http://schemas.microsoft.com/office/drawing/2014/chart" uri="{C3380CC4-5D6E-409C-BE32-E72D297353CC}">
                <c16:uniqueId val="{00000003-F1AD-47B3-BD41-D163BB9D9ECB}"/>
              </c:ext>
            </c:extLst>
          </c:dPt>
          <c:dPt>
            <c:idx val="2"/>
            <c:bubble3D val="0"/>
            <c:spPr>
              <a:solidFill>
                <a:schemeClr val="accent3"/>
              </a:solidFill>
              <a:ln>
                <a:noFill/>
              </a:ln>
              <a:effectLst/>
            </c:spPr>
            <c:extLst>
              <c:ext xmlns:c16="http://schemas.microsoft.com/office/drawing/2014/chart" uri="{C3380CC4-5D6E-409C-BE32-E72D297353CC}">
                <c16:uniqueId val="{00000005-F1AD-47B3-BD41-D163BB9D9ECB}"/>
              </c:ext>
            </c:extLst>
          </c:dPt>
          <c:dLbls>
            <c:dLbl>
              <c:idx val="2"/>
              <c:layout>
                <c:manualLayout>
                  <c:x val="0.13277746531683535"/>
                  <c:y val="0.1875001801245432"/>
                </c:manualLayout>
              </c:layout>
              <c:spPr>
                <a:noFill/>
                <a:ln>
                  <a:noFill/>
                </a:ln>
                <a:effectLst/>
              </c:spPr>
              <c:txPr>
                <a:bodyPr rot="0" spcFirstLastPara="1" vertOverflow="clip" horzOverflow="clip" vert="horz" wrap="square" lIns="38100" tIns="19050" rIns="38100" bIns="19050" anchor="ctr" anchorCtr="0">
                  <a:noAutofit/>
                </a:bodyPr>
                <a:lstStyle/>
                <a:p>
                  <a:pPr>
                    <a:defRPr sz="18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5923447069116362"/>
                      <c:h val="7.7881306503353731E-2"/>
                    </c:manualLayout>
                  </c15:layout>
                </c:ext>
                <c:ext xmlns:c16="http://schemas.microsoft.com/office/drawing/2014/chart" uri="{C3380CC4-5D6E-409C-BE32-E72D297353CC}">
                  <c16:uniqueId val="{00000005-F1AD-47B3-BD41-D163BB9D9ECB}"/>
                </c:ext>
              </c:extLst>
            </c:dLbl>
            <c:spPr>
              <a:no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defRPr sz="1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'SEVERITY AND SLEEP QUALITY'!$A$4:$A$7</c:f>
              <c:strCache>
                <c:ptCount val="3"/>
                <c:pt idx="0">
                  <c:v>Mild</c:v>
                </c:pt>
                <c:pt idx="1">
                  <c:v>Moderate</c:v>
                </c:pt>
                <c:pt idx="2">
                  <c:v>Severe</c:v>
                </c:pt>
              </c:strCache>
            </c:strRef>
          </c:cat>
          <c:val>
            <c:numRef>
              <c:f>'SEVERITY AND SLEEP QUALITY'!$B$4:$B$7</c:f>
              <c:numCache>
                <c:formatCode>General</c:formatCode>
                <c:ptCount val="3"/>
                <c:pt idx="0">
                  <c:v>1979</c:v>
                </c:pt>
                <c:pt idx="1">
                  <c:v>2003</c:v>
                </c:pt>
                <c:pt idx="2">
                  <c:v>1018</c:v>
                </c:pt>
              </c:numCache>
            </c:numRef>
          </c:val>
          <c:extLst>
            <c:ext xmlns:c16="http://schemas.microsoft.com/office/drawing/2014/chart" uri="{C3380CC4-5D6E-409C-BE32-E72D297353CC}">
              <c16:uniqueId val="{00000006-F1AD-47B3-BD41-D163BB9D9ECB}"/>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4837" y="0"/>
            <a:ext cx="17939035" cy="1005578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3948851" y="2744326"/>
            <a:ext cx="9996315" cy="2222782"/>
          </a:xfrm>
        </p:spPr>
        <p:txBody>
          <a:bodyPr anchor="b">
            <a:noAutofit/>
          </a:bodyPr>
          <a:lstStyle>
            <a:lvl1pPr algn="ctr">
              <a:defRPr sz="7920">
                <a:effectLst/>
              </a:defRPr>
            </a:lvl1pPr>
          </a:lstStyle>
          <a:p>
            <a:r>
              <a:rPr lang="en-US"/>
              <a:t>Click to edit Master title style</a:t>
            </a:r>
            <a:endParaRPr lang="en-US" dirty="0"/>
          </a:p>
        </p:txBody>
      </p:sp>
      <p:sp>
        <p:nvSpPr>
          <p:cNvPr id="3" name="Subtitle 2"/>
          <p:cNvSpPr>
            <a:spLocks noGrp="1"/>
          </p:cNvSpPr>
          <p:nvPr>
            <p:ph type="subTitle" idx="1"/>
          </p:nvPr>
        </p:nvSpPr>
        <p:spPr>
          <a:xfrm>
            <a:off x="3948851" y="5364476"/>
            <a:ext cx="9996315" cy="1937176"/>
          </a:xfrm>
        </p:spPr>
        <p:txBody>
          <a:bodyPr anchor="t">
            <a:normAutofit/>
          </a:bodyPr>
          <a:lstStyle>
            <a:lvl1pPr marL="0" indent="0" algn="ctr">
              <a:buNone/>
              <a:defRPr sz="3080">
                <a:solidFill>
                  <a:schemeClr val="tx1"/>
                </a:solidFill>
              </a:defRPr>
            </a:lvl1pPr>
            <a:lvl2pPr marL="670575" indent="0" algn="ctr">
              <a:buNone/>
              <a:defRPr>
                <a:solidFill>
                  <a:schemeClr val="tx1">
                    <a:tint val="75000"/>
                  </a:schemeClr>
                </a:solidFill>
              </a:defRPr>
            </a:lvl2pPr>
            <a:lvl3pPr marL="1341150" indent="0" algn="ctr">
              <a:buNone/>
              <a:defRPr>
                <a:solidFill>
                  <a:schemeClr val="tx1">
                    <a:tint val="75000"/>
                  </a:schemeClr>
                </a:solidFill>
              </a:defRPr>
            </a:lvl3pPr>
            <a:lvl4pPr marL="2011726" indent="0" algn="ctr">
              <a:buNone/>
              <a:defRPr>
                <a:solidFill>
                  <a:schemeClr val="tx1">
                    <a:tint val="75000"/>
                  </a:schemeClr>
                </a:solidFill>
              </a:defRPr>
            </a:lvl4pPr>
            <a:lvl5pPr marL="2682301" indent="0" algn="ctr">
              <a:buNone/>
              <a:defRPr>
                <a:solidFill>
                  <a:schemeClr val="tx1">
                    <a:tint val="75000"/>
                  </a:schemeClr>
                </a:solidFill>
              </a:defRPr>
            </a:lvl5pPr>
            <a:lvl6pPr marL="3352876" indent="0" algn="ctr">
              <a:buNone/>
              <a:defRPr>
                <a:solidFill>
                  <a:schemeClr val="tx1">
                    <a:tint val="75000"/>
                  </a:schemeClr>
                </a:solidFill>
              </a:defRPr>
            </a:lvl6pPr>
            <a:lvl7pPr marL="4023451" indent="0" algn="ctr">
              <a:buNone/>
              <a:defRPr>
                <a:solidFill>
                  <a:schemeClr val="tx1">
                    <a:tint val="75000"/>
                  </a:schemeClr>
                </a:solidFill>
              </a:defRPr>
            </a:lvl7pPr>
            <a:lvl8pPr marL="4694027" indent="0" algn="ctr">
              <a:buNone/>
              <a:defRPr>
                <a:solidFill>
                  <a:schemeClr val="tx1">
                    <a:tint val="75000"/>
                  </a:schemeClr>
                </a:solidFill>
              </a:defRPr>
            </a:lvl8pPr>
            <a:lvl9pPr marL="536460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708741" y="7388572"/>
            <a:ext cx="1316285" cy="409787"/>
          </a:xfrm>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a:xfrm>
            <a:off x="3948850" y="7388572"/>
            <a:ext cx="7648131" cy="409787"/>
          </a:xfrm>
        </p:spPr>
        <p:txBody>
          <a:bodyPr/>
          <a:lstStyle/>
          <a:p>
            <a:endParaRPr lang="en-US" dirty="0"/>
          </a:p>
        </p:txBody>
      </p:sp>
      <p:sp>
        <p:nvSpPr>
          <p:cNvPr id="6" name="Slide Number Placeholder 5"/>
          <p:cNvSpPr>
            <a:spLocks noGrp="1"/>
          </p:cNvSpPr>
          <p:nvPr>
            <p:ph type="sldNum" sz="quarter" idx="12"/>
          </p:nvPr>
        </p:nvSpPr>
        <p:spPr>
          <a:xfrm>
            <a:off x="13136788" y="7388572"/>
            <a:ext cx="808378" cy="409787"/>
          </a:xfrm>
        </p:spPr>
        <p:txBody>
          <a:bodyPr/>
          <a:lstStyle/>
          <a:p>
            <a:fld id="{48F63A3B-78C7-47BE-AE5E-E10140E04643}" type="slidenum">
              <a:rPr lang="en-US" smtClean="0"/>
              <a:t>‹#›</a:t>
            </a:fld>
            <a:endParaRPr lang="en-US" dirty="0"/>
          </a:p>
        </p:txBody>
      </p:sp>
      <p:cxnSp>
        <p:nvCxnSpPr>
          <p:cNvPr id="15" name="Straight Connector 14"/>
          <p:cNvCxnSpPr/>
          <p:nvPr/>
        </p:nvCxnSpPr>
        <p:spPr>
          <a:xfrm>
            <a:off x="3948852" y="5165792"/>
            <a:ext cx="999631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2645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47715" y="3551483"/>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3011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55434" y="2570489"/>
            <a:ext cx="11966076" cy="2673021"/>
          </a:xfrm>
        </p:spPr>
        <p:txBody>
          <a:bodyPr anchor="b">
            <a:normAutofit/>
          </a:bodyPr>
          <a:lstStyle>
            <a:lvl1pPr algn="ctr">
              <a:defRPr sz="6453" b="0" cap="none"/>
            </a:lvl1pPr>
          </a:lstStyle>
          <a:p>
            <a:r>
              <a:rPr lang="en-US"/>
              <a:t>Click to edit Master title style</a:t>
            </a:r>
            <a:endParaRPr lang="en-US" dirty="0"/>
          </a:p>
        </p:txBody>
      </p:sp>
      <p:sp>
        <p:nvSpPr>
          <p:cNvPr id="3" name="Text Placeholder 2"/>
          <p:cNvSpPr>
            <a:spLocks noGrp="1"/>
          </p:cNvSpPr>
          <p:nvPr>
            <p:ph type="body" idx="1"/>
          </p:nvPr>
        </p:nvSpPr>
        <p:spPr>
          <a:xfrm>
            <a:off x="2955431" y="5640876"/>
            <a:ext cx="11966079" cy="1400002"/>
          </a:xfrm>
        </p:spPr>
        <p:txBody>
          <a:bodyPr anchor="t">
            <a:normAutofit/>
          </a:bodyPr>
          <a:lstStyle>
            <a:lvl1pPr marL="0" indent="0" algn="ctr">
              <a:buNone/>
              <a:defRPr sz="3520">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6" name="Straight Connector 15"/>
          <p:cNvCxnSpPr/>
          <p:nvPr/>
        </p:nvCxnSpPr>
        <p:spPr>
          <a:xfrm>
            <a:off x="2951994" y="5442191"/>
            <a:ext cx="1197295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0375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47715" y="3551483"/>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04391" y="3755136"/>
            <a:ext cx="6920179" cy="485485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065971" y="3755136"/>
            <a:ext cx="6920179" cy="485485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70273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899920" y="3899182"/>
            <a:ext cx="6920179" cy="845184"/>
          </a:xfrm>
        </p:spPr>
        <p:txBody>
          <a:bodyPr anchor="b">
            <a:noAutofit/>
          </a:bodyPr>
          <a:lstStyle>
            <a:lvl1pPr marL="0" indent="0">
              <a:spcBef>
                <a:spcPts val="986"/>
              </a:spcBef>
              <a:spcAft>
                <a:spcPts val="880"/>
              </a:spcAft>
              <a:buNone/>
              <a:defRPr sz="4107" b="0">
                <a:solidFill>
                  <a:schemeClr val="accent1"/>
                </a:solidFill>
              </a:defRPr>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Edit Master text styles</a:t>
            </a:r>
          </a:p>
        </p:txBody>
      </p:sp>
      <p:sp>
        <p:nvSpPr>
          <p:cNvPr id="4" name="Content Placeholder 3"/>
          <p:cNvSpPr>
            <a:spLocks noGrp="1"/>
          </p:cNvSpPr>
          <p:nvPr>
            <p:ph sz="half" idx="2"/>
          </p:nvPr>
        </p:nvSpPr>
        <p:spPr>
          <a:xfrm>
            <a:off x="1899920" y="4756785"/>
            <a:ext cx="6920179" cy="3861154"/>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064983" y="3899182"/>
            <a:ext cx="6920179" cy="845184"/>
          </a:xfrm>
        </p:spPr>
        <p:txBody>
          <a:bodyPr anchor="b">
            <a:noAutofit/>
          </a:bodyPr>
          <a:lstStyle>
            <a:lvl1pPr marL="0" indent="0">
              <a:spcBef>
                <a:spcPts val="986"/>
              </a:spcBef>
              <a:spcAft>
                <a:spcPts val="880"/>
              </a:spcAft>
              <a:buNone/>
              <a:defRPr sz="4107" b="0">
                <a:solidFill>
                  <a:schemeClr val="accent1"/>
                </a:solidFill>
              </a:defRPr>
            </a:lvl1pPr>
            <a:lvl2pPr marL="670575" indent="0">
              <a:buNone/>
              <a:defRPr sz="2933" b="1"/>
            </a:lvl2pPr>
            <a:lvl3pPr marL="1341150" indent="0">
              <a:buNone/>
              <a:defRPr sz="2640" b="1"/>
            </a:lvl3pPr>
            <a:lvl4pPr marL="2011726" indent="0">
              <a:buNone/>
              <a:defRPr sz="2347" b="1"/>
            </a:lvl4pPr>
            <a:lvl5pPr marL="2682301" indent="0">
              <a:buNone/>
              <a:defRPr sz="2347" b="1"/>
            </a:lvl5pPr>
            <a:lvl6pPr marL="3352876" indent="0">
              <a:buNone/>
              <a:defRPr sz="2347" b="1"/>
            </a:lvl6pPr>
            <a:lvl7pPr marL="4023451" indent="0">
              <a:buNone/>
              <a:defRPr sz="2347" b="1"/>
            </a:lvl7pPr>
            <a:lvl8pPr marL="4694027" indent="0">
              <a:buNone/>
              <a:defRPr sz="2347" b="1"/>
            </a:lvl8pPr>
            <a:lvl9pPr marL="5364602" indent="0">
              <a:buNone/>
              <a:defRPr sz="2347" b="1"/>
            </a:lvl9pPr>
          </a:lstStyle>
          <a:p>
            <a:pPr lvl="0"/>
            <a:r>
              <a:rPr lang="en-US"/>
              <a:t>Edit Master text styles</a:t>
            </a:r>
          </a:p>
        </p:txBody>
      </p:sp>
      <p:sp>
        <p:nvSpPr>
          <p:cNvPr id="6" name="Content Placeholder 5"/>
          <p:cNvSpPr>
            <a:spLocks noGrp="1"/>
          </p:cNvSpPr>
          <p:nvPr>
            <p:ph sz="quarter" idx="4"/>
          </p:nvPr>
        </p:nvSpPr>
        <p:spPr>
          <a:xfrm>
            <a:off x="9064983" y="4756785"/>
            <a:ext cx="6920179" cy="3861154"/>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cxnSp>
        <p:nvCxnSpPr>
          <p:cNvPr id="18" name="Straight Connector 17"/>
          <p:cNvCxnSpPr/>
          <p:nvPr/>
        </p:nvCxnSpPr>
        <p:spPr>
          <a:xfrm>
            <a:off x="2047715" y="3551483"/>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651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2047715" y="3551483"/>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250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972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97590" y="2036517"/>
            <a:ext cx="5453734" cy="2011680"/>
          </a:xfrm>
        </p:spPr>
        <p:txBody>
          <a:bodyPr anchor="b">
            <a:normAutofit/>
          </a:bodyPr>
          <a:lstStyle>
            <a:lvl1pPr algn="ctr">
              <a:defRPr sz="3520" b="0"/>
            </a:lvl1pPr>
          </a:lstStyle>
          <a:p>
            <a:r>
              <a:rPr lang="en-US"/>
              <a:t>Click to edit Master title style</a:t>
            </a:r>
            <a:endParaRPr lang="en-US" dirty="0"/>
          </a:p>
        </p:txBody>
      </p:sp>
      <p:sp>
        <p:nvSpPr>
          <p:cNvPr id="3" name="Content Placeholder 2"/>
          <p:cNvSpPr>
            <a:spLocks noGrp="1"/>
          </p:cNvSpPr>
          <p:nvPr>
            <p:ph idx="1"/>
          </p:nvPr>
        </p:nvSpPr>
        <p:spPr>
          <a:xfrm>
            <a:off x="7947380" y="1440460"/>
            <a:ext cx="8021883" cy="7177478"/>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97590" y="4445562"/>
            <a:ext cx="5453734" cy="3576326"/>
          </a:xfrm>
        </p:spPr>
        <p:txBody>
          <a:bodyPr anchor="t">
            <a:normAutofit/>
          </a:bodyPr>
          <a:lstStyle>
            <a:lvl1pPr marL="0" indent="0" algn="ctr">
              <a:buNone/>
              <a:defRPr sz="2347"/>
            </a:lvl1pPr>
            <a:lvl2pPr marL="670575" indent="0">
              <a:buNone/>
              <a:defRPr sz="1760"/>
            </a:lvl2pPr>
            <a:lvl3pPr marL="1341150" indent="0">
              <a:buNone/>
              <a:defRPr sz="1467"/>
            </a:lvl3pPr>
            <a:lvl4pPr marL="2011726" indent="0">
              <a:buNone/>
              <a:defRPr sz="1320"/>
            </a:lvl4pPr>
            <a:lvl5pPr marL="2682301" indent="0">
              <a:buNone/>
              <a:defRPr sz="1320"/>
            </a:lvl5pPr>
            <a:lvl6pPr marL="3352876" indent="0">
              <a:buNone/>
              <a:defRPr sz="1320"/>
            </a:lvl6pPr>
            <a:lvl7pPr marL="4023451" indent="0">
              <a:buNone/>
              <a:defRPr sz="1320"/>
            </a:lvl7pPr>
            <a:lvl8pPr marL="4694027" indent="0">
              <a:buNone/>
              <a:defRPr sz="1320"/>
            </a:lvl8pPr>
            <a:lvl9pPr marL="5364602" indent="0">
              <a:buNone/>
              <a:defRPr sz="132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16" name="Straight Connector 15"/>
          <p:cNvCxnSpPr/>
          <p:nvPr/>
        </p:nvCxnSpPr>
        <p:spPr>
          <a:xfrm>
            <a:off x="2047715" y="4271715"/>
            <a:ext cx="515459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9728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99919" y="2762954"/>
            <a:ext cx="9154663" cy="2011680"/>
          </a:xfrm>
        </p:spPr>
        <p:txBody>
          <a:bodyPr anchor="b">
            <a:normAutofit/>
          </a:bodyPr>
          <a:lstStyle>
            <a:lvl1pPr algn="ctr">
              <a:defRPr sz="4107"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11872420" y="1527387"/>
            <a:ext cx="4492909" cy="7003627"/>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347"/>
            </a:lvl1pPr>
            <a:lvl2pPr marL="670575" indent="0">
              <a:buNone/>
              <a:defRPr sz="2347"/>
            </a:lvl2pPr>
            <a:lvl3pPr marL="1341150" indent="0">
              <a:buNone/>
              <a:defRPr sz="2347"/>
            </a:lvl3pPr>
            <a:lvl4pPr marL="2011726" indent="0">
              <a:buNone/>
              <a:defRPr sz="2347"/>
            </a:lvl4pPr>
            <a:lvl5pPr marL="2682301" indent="0">
              <a:buNone/>
              <a:defRPr sz="2347"/>
            </a:lvl5pPr>
            <a:lvl6pPr marL="3352876" indent="0">
              <a:buNone/>
              <a:defRPr sz="2347"/>
            </a:lvl6pPr>
            <a:lvl7pPr marL="4023451" indent="0">
              <a:buNone/>
              <a:defRPr sz="2347"/>
            </a:lvl7pPr>
            <a:lvl8pPr marL="4694027" indent="0">
              <a:buNone/>
              <a:defRPr sz="2347"/>
            </a:lvl8pPr>
            <a:lvl9pPr marL="5364602" indent="0">
              <a:buNone/>
              <a:defRPr sz="2347"/>
            </a:lvl9pPr>
          </a:lstStyle>
          <a:p>
            <a:r>
              <a:rPr lang="en-US"/>
              <a:t>Click icon to add picture</a:t>
            </a:r>
            <a:endParaRPr lang="en-US" dirty="0"/>
          </a:p>
        </p:txBody>
      </p:sp>
      <p:sp>
        <p:nvSpPr>
          <p:cNvPr id="4" name="Text Placeholder 3"/>
          <p:cNvSpPr>
            <a:spLocks noGrp="1"/>
          </p:cNvSpPr>
          <p:nvPr>
            <p:ph type="body" sz="half" idx="2"/>
          </p:nvPr>
        </p:nvSpPr>
        <p:spPr>
          <a:xfrm>
            <a:off x="1899919" y="4774634"/>
            <a:ext cx="9154663" cy="2682240"/>
          </a:xfrm>
        </p:spPr>
        <p:txBody>
          <a:bodyPr anchor="t">
            <a:normAutofit/>
          </a:bodyPr>
          <a:lstStyle>
            <a:lvl1pPr marL="0" indent="0" algn="ctr">
              <a:buNone/>
              <a:defRPr sz="2640"/>
            </a:lvl1pPr>
            <a:lvl2pPr marL="670575" indent="0">
              <a:buNone/>
              <a:defRPr sz="1760"/>
            </a:lvl2pPr>
            <a:lvl3pPr marL="1341150" indent="0">
              <a:buNone/>
              <a:defRPr sz="1467"/>
            </a:lvl3pPr>
            <a:lvl4pPr marL="2011726" indent="0">
              <a:buNone/>
              <a:defRPr sz="1320"/>
            </a:lvl4pPr>
            <a:lvl5pPr marL="2682301" indent="0">
              <a:buNone/>
              <a:defRPr sz="1320"/>
            </a:lvl5pPr>
            <a:lvl6pPr marL="3352876" indent="0">
              <a:buNone/>
              <a:defRPr sz="1320"/>
            </a:lvl6pPr>
            <a:lvl7pPr marL="4023451" indent="0">
              <a:buNone/>
              <a:defRPr sz="1320"/>
            </a:lvl7pPr>
            <a:lvl8pPr marL="4694027" indent="0">
              <a:buNone/>
              <a:defRPr sz="1320"/>
            </a:lvl8pPr>
            <a:lvl9pPr marL="5364602" indent="0">
              <a:buNone/>
              <a:defRPr sz="132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175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99921" y="7062609"/>
            <a:ext cx="14094177" cy="831216"/>
          </a:xfrm>
        </p:spPr>
        <p:txBody>
          <a:bodyPr anchor="b">
            <a:normAutofit/>
          </a:bodyPr>
          <a:lstStyle>
            <a:lvl1pPr algn="ctr">
              <a:defRPr sz="35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27426" y="1527386"/>
            <a:ext cx="14822092" cy="4892608"/>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347"/>
            </a:lvl1pPr>
            <a:lvl2pPr marL="670575" indent="0">
              <a:buNone/>
              <a:defRPr sz="2347"/>
            </a:lvl2pPr>
            <a:lvl3pPr marL="1341150" indent="0">
              <a:buNone/>
              <a:defRPr sz="2347"/>
            </a:lvl3pPr>
            <a:lvl4pPr marL="2011726" indent="0">
              <a:buNone/>
              <a:defRPr sz="2347"/>
            </a:lvl4pPr>
            <a:lvl5pPr marL="2682301" indent="0">
              <a:buNone/>
              <a:defRPr sz="2347"/>
            </a:lvl5pPr>
            <a:lvl6pPr marL="3352876" indent="0">
              <a:buNone/>
              <a:defRPr sz="2347"/>
            </a:lvl6pPr>
            <a:lvl7pPr marL="4023451" indent="0">
              <a:buNone/>
              <a:defRPr sz="2347"/>
            </a:lvl7pPr>
            <a:lvl8pPr marL="4694027" indent="0">
              <a:buNone/>
              <a:defRPr sz="2347"/>
            </a:lvl8pPr>
            <a:lvl9pPr marL="5364602" indent="0">
              <a:buNone/>
              <a:defRPr sz="2347"/>
            </a:lvl9pPr>
          </a:lstStyle>
          <a:p>
            <a:r>
              <a:rPr lang="en-US"/>
              <a:t>Click icon to add picture</a:t>
            </a:r>
            <a:endParaRPr lang="en-US" dirty="0"/>
          </a:p>
        </p:txBody>
      </p:sp>
      <p:sp>
        <p:nvSpPr>
          <p:cNvPr id="4" name="Text Placeholder 3"/>
          <p:cNvSpPr>
            <a:spLocks noGrp="1"/>
          </p:cNvSpPr>
          <p:nvPr>
            <p:ph type="body" sz="half" idx="2"/>
          </p:nvPr>
        </p:nvSpPr>
        <p:spPr>
          <a:xfrm>
            <a:off x="1899921" y="7893824"/>
            <a:ext cx="14094177" cy="724111"/>
          </a:xfrm>
        </p:spPr>
        <p:txBody>
          <a:bodyPr>
            <a:normAutofit/>
          </a:bodyPr>
          <a:lstStyle>
            <a:lvl1pPr marL="0" indent="0" algn="ctr">
              <a:buNone/>
              <a:defRPr sz="2053"/>
            </a:lvl1pPr>
            <a:lvl2pPr marL="670575" indent="0">
              <a:buNone/>
              <a:defRPr sz="1760"/>
            </a:lvl2pPr>
            <a:lvl3pPr marL="1341150" indent="0">
              <a:buNone/>
              <a:defRPr sz="1467"/>
            </a:lvl3pPr>
            <a:lvl4pPr marL="2011726" indent="0">
              <a:buNone/>
              <a:defRPr sz="1320"/>
            </a:lvl4pPr>
            <a:lvl5pPr marL="2682301" indent="0">
              <a:buNone/>
              <a:defRPr sz="1320"/>
            </a:lvl5pPr>
            <a:lvl6pPr marL="3352876" indent="0">
              <a:buNone/>
              <a:defRPr sz="1320"/>
            </a:lvl6pPr>
            <a:lvl7pPr marL="4023451" indent="0">
              <a:buNone/>
              <a:defRPr sz="1320"/>
            </a:lvl7pPr>
            <a:lvl8pPr marL="4694027" indent="0">
              <a:buNone/>
              <a:defRPr sz="1320"/>
            </a:lvl8pPr>
            <a:lvl9pPr marL="5364602" indent="0">
              <a:buNone/>
              <a:defRPr sz="132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5341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12340" y="1440460"/>
            <a:ext cx="14069340" cy="4333806"/>
          </a:xfrm>
        </p:spPr>
        <p:txBody>
          <a:bodyPr anchor="ctr">
            <a:normAutofit/>
          </a:bodyPr>
          <a:lstStyle>
            <a:lvl1pPr algn="ctr">
              <a:defRPr sz="4693" b="0" cap="none"/>
            </a:lvl1pPr>
          </a:lstStyle>
          <a:p>
            <a:r>
              <a:rPr lang="en-US"/>
              <a:t>Click to edit Master title style</a:t>
            </a:r>
            <a:endParaRPr lang="en-US" dirty="0"/>
          </a:p>
        </p:txBody>
      </p:sp>
      <p:sp>
        <p:nvSpPr>
          <p:cNvPr id="3" name="Text Placeholder 2"/>
          <p:cNvSpPr>
            <a:spLocks noGrp="1"/>
          </p:cNvSpPr>
          <p:nvPr>
            <p:ph type="body" idx="1"/>
          </p:nvPr>
        </p:nvSpPr>
        <p:spPr>
          <a:xfrm>
            <a:off x="1912340" y="6370319"/>
            <a:ext cx="14069340" cy="2247618"/>
          </a:xfrm>
        </p:spPr>
        <p:txBody>
          <a:bodyPr anchor="ctr">
            <a:normAutofit/>
          </a:bodyPr>
          <a:lstStyle>
            <a:lvl1pPr marL="0" indent="0" algn="ctr">
              <a:buNone/>
              <a:defRPr sz="2933">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2047715" y="6072292"/>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7311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21112" y="1440460"/>
            <a:ext cx="13634717" cy="3476980"/>
          </a:xfrm>
        </p:spPr>
        <p:txBody>
          <a:bodyPr anchor="ctr">
            <a:normAutofit/>
          </a:bodyPr>
          <a:lstStyle>
            <a:lvl1pPr algn="ctr">
              <a:defRPr sz="4693"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56391" y="4917440"/>
            <a:ext cx="12964163" cy="856827"/>
          </a:xfrm>
        </p:spPr>
        <p:txBody>
          <a:bodyPr anchor="ctr">
            <a:normAutofit/>
          </a:bodyPr>
          <a:lstStyle>
            <a:lvl1pPr marL="0" indent="0" algn="r">
              <a:buFontTx/>
              <a:buNone/>
              <a:defRPr sz="2933"/>
            </a:lvl1pPr>
            <a:lvl2pPr marL="670575" indent="0">
              <a:buFontTx/>
              <a:buNone/>
              <a:defRPr/>
            </a:lvl2pPr>
            <a:lvl3pPr marL="1341150" indent="0">
              <a:buFontTx/>
              <a:buNone/>
              <a:defRPr/>
            </a:lvl3pPr>
            <a:lvl4pPr marL="2011726" indent="0">
              <a:buFontTx/>
              <a:buNone/>
              <a:defRPr/>
            </a:lvl4pPr>
            <a:lvl5pPr marL="2682301" indent="0">
              <a:buFontTx/>
              <a:buNone/>
              <a:defRPr/>
            </a:lvl5pPr>
          </a:lstStyle>
          <a:p>
            <a:pPr lvl="0"/>
            <a:r>
              <a:rPr lang="en-US"/>
              <a:t>Edit Master text styles</a:t>
            </a:r>
          </a:p>
        </p:txBody>
      </p:sp>
      <p:sp>
        <p:nvSpPr>
          <p:cNvPr id="3" name="Text Placeholder 2"/>
          <p:cNvSpPr>
            <a:spLocks noGrp="1"/>
          </p:cNvSpPr>
          <p:nvPr>
            <p:ph type="body" idx="1"/>
          </p:nvPr>
        </p:nvSpPr>
        <p:spPr>
          <a:xfrm>
            <a:off x="1899921" y="6370319"/>
            <a:ext cx="14094177" cy="2247618"/>
          </a:xfrm>
        </p:spPr>
        <p:txBody>
          <a:bodyPr anchor="ctr">
            <a:normAutofit/>
          </a:bodyPr>
          <a:lstStyle>
            <a:lvl1pPr marL="0" indent="0" algn="ctr">
              <a:buNone/>
              <a:defRPr sz="2933">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4" name="TextBox 13"/>
          <p:cNvSpPr txBox="1"/>
          <p:nvPr/>
        </p:nvSpPr>
        <p:spPr>
          <a:xfrm>
            <a:off x="1264286" y="1290610"/>
            <a:ext cx="894080" cy="857671"/>
          </a:xfrm>
          <a:prstGeom prst="rect">
            <a:avLst/>
          </a:prstGeom>
        </p:spPr>
        <p:txBody>
          <a:bodyPr vert="horz" lIns="134112" tIns="67056" rIns="134112" bIns="67056" rtlCol="0" anchor="ctr">
            <a:noAutofit/>
          </a:bodyPr>
          <a:lstStyle/>
          <a:p>
            <a:pPr lvl="0"/>
            <a:r>
              <a:rPr lang="en-US" sz="11734" dirty="0">
                <a:solidFill>
                  <a:schemeClr val="tx1"/>
                </a:solidFill>
                <a:effectLst/>
              </a:rPr>
              <a:t>“</a:t>
            </a:r>
          </a:p>
        </p:txBody>
      </p:sp>
      <p:sp>
        <p:nvSpPr>
          <p:cNvPr id="15" name="TextBox 14"/>
          <p:cNvSpPr txBox="1"/>
          <p:nvPr/>
        </p:nvSpPr>
        <p:spPr>
          <a:xfrm>
            <a:off x="15547058" y="4147543"/>
            <a:ext cx="894080" cy="857671"/>
          </a:xfrm>
          <a:prstGeom prst="rect">
            <a:avLst/>
          </a:prstGeom>
        </p:spPr>
        <p:txBody>
          <a:bodyPr vert="horz" lIns="134112" tIns="67056" rIns="134112" bIns="67056" rtlCol="0" anchor="ctr">
            <a:noAutofit/>
          </a:bodyPr>
          <a:lstStyle/>
          <a:p>
            <a:pPr lvl="0" algn="r"/>
            <a:r>
              <a:rPr lang="en-US" sz="11734" dirty="0">
                <a:solidFill>
                  <a:schemeClr val="tx1"/>
                </a:solidFill>
                <a:effectLst/>
              </a:rPr>
              <a:t>”</a:t>
            </a:r>
          </a:p>
        </p:txBody>
      </p:sp>
      <p:cxnSp>
        <p:nvCxnSpPr>
          <p:cNvPr id="19" name="Straight Connector 18"/>
          <p:cNvCxnSpPr/>
          <p:nvPr/>
        </p:nvCxnSpPr>
        <p:spPr>
          <a:xfrm>
            <a:off x="2047715" y="6072292"/>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0909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899923" y="4852585"/>
            <a:ext cx="14094180" cy="2154240"/>
          </a:xfrm>
        </p:spPr>
        <p:txBody>
          <a:bodyPr anchor="b">
            <a:normAutofit/>
          </a:bodyPr>
          <a:lstStyle>
            <a:lvl1pPr algn="l">
              <a:defRPr sz="4693" b="0" cap="none"/>
            </a:lvl1pPr>
          </a:lstStyle>
          <a:p>
            <a:r>
              <a:rPr lang="en-US"/>
              <a:t>Click to edit Master title style</a:t>
            </a:r>
            <a:endParaRPr lang="en-US" dirty="0"/>
          </a:p>
        </p:txBody>
      </p:sp>
      <p:sp>
        <p:nvSpPr>
          <p:cNvPr id="3" name="Text Placeholder 2"/>
          <p:cNvSpPr>
            <a:spLocks noGrp="1"/>
          </p:cNvSpPr>
          <p:nvPr>
            <p:ph type="body" idx="1"/>
          </p:nvPr>
        </p:nvSpPr>
        <p:spPr>
          <a:xfrm>
            <a:off x="1899921" y="7006825"/>
            <a:ext cx="14094180" cy="1261920"/>
          </a:xfrm>
        </p:spPr>
        <p:txBody>
          <a:bodyPr anchor="t">
            <a:normAutofit/>
          </a:bodyPr>
          <a:lstStyle>
            <a:lvl1pPr marL="0" indent="0" algn="l">
              <a:buNone/>
              <a:defRPr sz="2933">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72190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21112" y="1440460"/>
            <a:ext cx="13634717" cy="3290713"/>
          </a:xfrm>
        </p:spPr>
        <p:txBody>
          <a:bodyPr anchor="ctr">
            <a:normAutofit/>
          </a:bodyPr>
          <a:lstStyle>
            <a:lvl1pPr algn="ctr">
              <a:defRPr sz="4693"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899921" y="5337658"/>
            <a:ext cx="14094180" cy="1300886"/>
          </a:xfrm>
        </p:spPr>
        <p:txBody>
          <a:bodyPr anchor="b">
            <a:normAutofit/>
          </a:bodyPr>
          <a:lstStyle>
            <a:lvl1pPr marL="0" indent="0" algn="l">
              <a:spcBef>
                <a:spcPts val="0"/>
              </a:spcBef>
              <a:buNone/>
              <a:defRPr sz="3520">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899921" y="6643511"/>
            <a:ext cx="14094180" cy="1974427"/>
          </a:xfrm>
        </p:spPr>
        <p:txBody>
          <a:bodyPr anchor="t">
            <a:normAutofit/>
          </a:bodyPr>
          <a:lstStyle>
            <a:lvl1pPr marL="0" indent="0" algn="l">
              <a:buNone/>
              <a:defRPr sz="2640">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2" name="TextBox 11"/>
          <p:cNvSpPr txBox="1"/>
          <p:nvPr/>
        </p:nvSpPr>
        <p:spPr>
          <a:xfrm>
            <a:off x="1264286" y="1290610"/>
            <a:ext cx="894080" cy="857671"/>
          </a:xfrm>
          <a:prstGeom prst="rect">
            <a:avLst/>
          </a:prstGeom>
        </p:spPr>
        <p:txBody>
          <a:bodyPr vert="horz" lIns="134112" tIns="67056" rIns="134112" bIns="67056" rtlCol="0" anchor="ctr">
            <a:noAutofit/>
          </a:bodyPr>
          <a:lstStyle/>
          <a:p>
            <a:pPr lvl="0"/>
            <a:r>
              <a:rPr lang="en-US" sz="11734" dirty="0">
                <a:solidFill>
                  <a:schemeClr val="tx1"/>
                </a:solidFill>
                <a:effectLst/>
              </a:rPr>
              <a:t>“</a:t>
            </a:r>
          </a:p>
        </p:txBody>
      </p:sp>
      <p:sp>
        <p:nvSpPr>
          <p:cNvPr id="13" name="TextBox 12"/>
          <p:cNvSpPr txBox="1"/>
          <p:nvPr/>
        </p:nvSpPr>
        <p:spPr>
          <a:xfrm>
            <a:off x="15547058" y="3812250"/>
            <a:ext cx="894080" cy="857671"/>
          </a:xfrm>
          <a:prstGeom prst="rect">
            <a:avLst/>
          </a:prstGeom>
        </p:spPr>
        <p:txBody>
          <a:bodyPr vert="horz" lIns="134112" tIns="67056" rIns="134112" bIns="67056" rtlCol="0" anchor="ctr">
            <a:noAutofit/>
          </a:bodyPr>
          <a:lstStyle/>
          <a:p>
            <a:pPr lvl="0" algn="r"/>
            <a:r>
              <a:rPr lang="en-US" sz="11734" dirty="0">
                <a:solidFill>
                  <a:schemeClr val="tx1"/>
                </a:solidFill>
                <a:effectLst/>
              </a:rPr>
              <a:t>”</a:t>
            </a:r>
          </a:p>
        </p:txBody>
      </p:sp>
      <p:cxnSp>
        <p:nvCxnSpPr>
          <p:cNvPr id="26" name="Straight Connector 25"/>
          <p:cNvCxnSpPr/>
          <p:nvPr/>
        </p:nvCxnSpPr>
        <p:spPr>
          <a:xfrm>
            <a:off x="2047715" y="5029200"/>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214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899921" y="1440460"/>
            <a:ext cx="14094177" cy="3290713"/>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899921" y="5324247"/>
            <a:ext cx="14094180" cy="1233830"/>
          </a:xfrm>
        </p:spPr>
        <p:txBody>
          <a:bodyPr anchor="b">
            <a:normAutofit/>
          </a:bodyPr>
          <a:lstStyle>
            <a:lvl1pPr marL="0" indent="0" algn="l">
              <a:spcBef>
                <a:spcPts val="0"/>
              </a:spcBef>
              <a:buNone/>
              <a:defRPr sz="4107">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899920" y="6556586"/>
            <a:ext cx="14094183" cy="2061352"/>
          </a:xfrm>
        </p:spPr>
        <p:txBody>
          <a:bodyPr anchor="t">
            <a:normAutofit/>
          </a:bodyPr>
          <a:lstStyle>
            <a:lvl1pPr marL="0" indent="0" algn="l">
              <a:buNone/>
              <a:defRPr sz="2640">
                <a:solidFill>
                  <a:schemeClr val="tx1"/>
                </a:solidFill>
              </a:defRPr>
            </a:lvl1pPr>
            <a:lvl2pPr marL="670575" indent="0">
              <a:buNone/>
              <a:defRPr sz="2640">
                <a:solidFill>
                  <a:schemeClr val="tx1">
                    <a:tint val="75000"/>
                  </a:schemeClr>
                </a:solidFill>
              </a:defRPr>
            </a:lvl2pPr>
            <a:lvl3pPr marL="1341150" indent="0">
              <a:buNone/>
              <a:defRPr sz="2347">
                <a:solidFill>
                  <a:schemeClr val="tx1">
                    <a:tint val="75000"/>
                  </a:schemeClr>
                </a:solidFill>
              </a:defRPr>
            </a:lvl3pPr>
            <a:lvl4pPr marL="2011726" indent="0">
              <a:buNone/>
              <a:defRPr sz="2053">
                <a:solidFill>
                  <a:schemeClr val="tx1">
                    <a:tint val="75000"/>
                  </a:schemeClr>
                </a:solidFill>
              </a:defRPr>
            </a:lvl4pPr>
            <a:lvl5pPr marL="2682301" indent="0">
              <a:buNone/>
              <a:defRPr sz="2053">
                <a:solidFill>
                  <a:schemeClr val="tx1">
                    <a:tint val="75000"/>
                  </a:schemeClr>
                </a:solidFill>
              </a:defRPr>
            </a:lvl5pPr>
            <a:lvl6pPr marL="3352876" indent="0">
              <a:buNone/>
              <a:defRPr sz="2053">
                <a:solidFill>
                  <a:schemeClr val="tx1">
                    <a:tint val="75000"/>
                  </a:schemeClr>
                </a:solidFill>
              </a:defRPr>
            </a:lvl6pPr>
            <a:lvl7pPr marL="4023451" indent="0">
              <a:buNone/>
              <a:defRPr sz="2053">
                <a:solidFill>
                  <a:schemeClr val="tx1">
                    <a:tint val="75000"/>
                  </a:schemeClr>
                </a:solidFill>
              </a:defRPr>
            </a:lvl7pPr>
            <a:lvl8pPr marL="4694027" indent="0">
              <a:buNone/>
              <a:defRPr sz="2053">
                <a:solidFill>
                  <a:schemeClr val="tx1">
                    <a:tint val="75000"/>
                  </a:schemeClr>
                </a:solidFill>
              </a:defRPr>
            </a:lvl8pPr>
            <a:lvl9pPr marL="5364602" indent="0">
              <a:buNone/>
              <a:defRPr sz="205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2047715" y="5029200"/>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2297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2047715" y="3551483"/>
            <a:ext cx="137973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918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199056" y="1440460"/>
            <a:ext cx="2773313" cy="71774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99918" y="1440460"/>
            <a:ext cx="10901770" cy="717747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13000372" y="1452880"/>
            <a:ext cx="0" cy="715264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8282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3080" y="0"/>
            <a:ext cx="17937278" cy="1005578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899923" y="1440461"/>
            <a:ext cx="14081754" cy="1912338"/>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99922" y="3750167"/>
            <a:ext cx="14081754" cy="4867773"/>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727001" y="8754533"/>
            <a:ext cx="2346960" cy="409787"/>
          </a:xfrm>
          <a:prstGeom prst="rect">
            <a:avLst/>
          </a:prstGeom>
        </p:spPr>
        <p:txBody>
          <a:bodyPr vert="horz" lIns="91440" tIns="45720" rIns="91440" bIns="45720" rtlCol="0" anchor="ctr"/>
          <a:lstStyle>
            <a:lvl1pPr algn="r">
              <a:defRPr sz="1467" b="0" i="0">
                <a:solidFill>
                  <a:schemeClr val="tx1"/>
                </a:solidFill>
                <a:effectLst/>
                <a:latin typeface="+mn-lt"/>
              </a:defRPr>
            </a:lvl1pPr>
          </a:lstStyle>
          <a:p>
            <a:fld id="{C764DE79-268F-4C1A-8933-263129D2AF90}" type="datetimeFigureOut">
              <a:rPr lang="en-US" smtClean="0"/>
              <a:t>10/13/2024</a:t>
            </a:fld>
            <a:endParaRPr lang="en-US" dirty="0"/>
          </a:p>
        </p:txBody>
      </p:sp>
      <p:sp>
        <p:nvSpPr>
          <p:cNvPr id="5" name="Footer Placeholder 4"/>
          <p:cNvSpPr>
            <a:spLocks noGrp="1"/>
          </p:cNvSpPr>
          <p:nvPr>
            <p:ph type="ftr" sz="quarter" idx="3"/>
          </p:nvPr>
        </p:nvSpPr>
        <p:spPr>
          <a:xfrm>
            <a:off x="1899921" y="8754533"/>
            <a:ext cx="10715320" cy="409787"/>
          </a:xfrm>
          <a:prstGeom prst="rect">
            <a:avLst/>
          </a:prstGeom>
        </p:spPr>
        <p:txBody>
          <a:bodyPr vert="horz" lIns="91440" tIns="45720" rIns="91440" bIns="45720" rtlCol="0" anchor="ctr"/>
          <a:lstStyle>
            <a:lvl1pPr algn="l">
              <a:defRPr sz="1467"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5185722" y="8754533"/>
            <a:ext cx="795956" cy="409787"/>
          </a:xfrm>
          <a:prstGeom prst="rect">
            <a:avLst/>
          </a:prstGeom>
        </p:spPr>
        <p:txBody>
          <a:bodyPr vert="horz" lIns="91440" tIns="45720" rIns="91440" bIns="45720" rtlCol="0" anchor="ctr"/>
          <a:lstStyle>
            <a:lvl1pPr algn="r">
              <a:defRPr sz="1467" b="0" i="0">
                <a:solidFill>
                  <a:schemeClr val="tx1"/>
                </a:solidFill>
                <a:effectLst/>
                <a:latin typeface="+mn-lt"/>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46122225"/>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txStyles>
    <p:titleStyle>
      <a:lvl1pPr algn="ctr" defTabSz="670575" rtl="0" eaLnBrk="1" latinLnBrk="0" hangingPunct="1">
        <a:spcBef>
          <a:spcPct val="0"/>
        </a:spcBef>
        <a:buNone/>
        <a:defRPr sz="6453"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9110" indent="-419110" algn="l" defTabSz="670575" rtl="0" eaLnBrk="1" latinLnBrk="0" hangingPunct="1">
        <a:spcBef>
          <a:spcPct val="20000"/>
        </a:spcBef>
        <a:spcAft>
          <a:spcPts val="880"/>
        </a:spcAft>
        <a:buClr>
          <a:schemeClr val="accent1"/>
        </a:buClr>
        <a:buSzPct val="115000"/>
        <a:buFont typeface="Arial"/>
        <a:buChar char="•"/>
        <a:defRPr sz="3520" kern="1200" cap="none">
          <a:solidFill>
            <a:schemeClr val="tx1">
              <a:lumMod val="85000"/>
              <a:lumOff val="15000"/>
            </a:schemeClr>
          </a:solidFill>
          <a:effectLst/>
          <a:latin typeface="+mn-lt"/>
          <a:ea typeface="+mn-ea"/>
          <a:cs typeface="+mn-cs"/>
        </a:defRPr>
      </a:lvl1pPr>
      <a:lvl2pPr marL="1089685" indent="-419110" algn="l" defTabSz="670575" rtl="0" eaLnBrk="1" latinLnBrk="0" hangingPunct="1">
        <a:spcBef>
          <a:spcPct val="20000"/>
        </a:spcBef>
        <a:spcAft>
          <a:spcPts val="880"/>
        </a:spcAft>
        <a:buClr>
          <a:schemeClr val="accent1"/>
        </a:buClr>
        <a:buSzPct val="115000"/>
        <a:buFont typeface="Arial"/>
        <a:buChar char="•"/>
        <a:defRPr sz="2933" kern="1200" cap="none">
          <a:solidFill>
            <a:schemeClr val="tx1">
              <a:lumMod val="85000"/>
              <a:lumOff val="15000"/>
            </a:schemeClr>
          </a:solidFill>
          <a:effectLst/>
          <a:latin typeface="+mn-lt"/>
          <a:ea typeface="+mn-ea"/>
          <a:cs typeface="+mn-cs"/>
        </a:defRPr>
      </a:lvl2pPr>
      <a:lvl3pPr marL="1760260" indent="-419110" algn="l" defTabSz="670575" rtl="0" eaLnBrk="1" latinLnBrk="0" hangingPunct="1">
        <a:spcBef>
          <a:spcPct val="20000"/>
        </a:spcBef>
        <a:spcAft>
          <a:spcPts val="880"/>
        </a:spcAft>
        <a:buClr>
          <a:schemeClr val="accent1"/>
        </a:buClr>
        <a:buSzPct val="115000"/>
        <a:buFont typeface="Arial"/>
        <a:buChar char="•"/>
        <a:defRPr sz="2640" kern="1200" cap="none">
          <a:solidFill>
            <a:schemeClr val="tx1">
              <a:lumMod val="85000"/>
              <a:lumOff val="15000"/>
            </a:schemeClr>
          </a:solidFill>
          <a:effectLst/>
          <a:latin typeface="+mn-lt"/>
          <a:ea typeface="+mn-ea"/>
          <a:cs typeface="+mn-cs"/>
        </a:defRPr>
      </a:lvl3pPr>
      <a:lvl4pPr marL="2263191" indent="-251466" algn="l" defTabSz="670575" rtl="0" eaLnBrk="1" latinLnBrk="0" hangingPunct="1">
        <a:spcBef>
          <a:spcPct val="20000"/>
        </a:spcBef>
        <a:spcAft>
          <a:spcPts val="880"/>
        </a:spcAft>
        <a:buClr>
          <a:schemeClr val="accent1"/>
        </a:buClr>
        <a:buSzPct val="115000"/>
        <a:buFont typeface="Arial"/>
        <a:buChar char="•"/>
        <a:defRPr sz="2347" kern="1200" cap="none">
          <a:solidFill>
            <a:schemeClr val="tx1">
              <a:lumMod val="85000"/>
              <a:lumOff val="15000"/>
            </a:schemeClr>
          </a:solidFill>
          <a:effectLst/>
          <a:latin typeface="+mn-lt"/>
          <a:ea typeface="+mn-ea"/>
          <a:cs typeface="+mn-cs"/>
        </a:defRPr>
      </a:lvl4pPr>
      <a:lvl5pPr marL="2933767" indent="-251466" algn="l" defTabSz="670575" rtl="0" eaLnBrk="1" latinLnBrk="0" hangingPunct="1">
        <a:spcBef>
          <a:spcPct val="20000"/>
        </a:spcBef>
        <a:spcAft>
          <a:spcPts val="880"/>
        </a:spcAft>
        <a:buClr>
          <a:schemeClr val="accent1"/>
        </a:buClr>
        <a:buSzPct val="115000"/>
        <a:buFont typeface="Arial"/>
        <a:buChar char="•"/>
        <a:defRPr sz="2053" kern="1200" cap="none">
          <a:solidFill>
            <a:schemeClr val="tx1">
              <a:lumMod val="85000"/>
              <a:lumOff val="15000"/>
            </a:schemeClr>
          </a:solidFill>
          <a:effectLst/>
          <a:latin typeface="+mn-lt"/>
          <a:ea typeface="+mn-ea"/>
          <a:cs typeface="+mn-cs"/>
        </a:defRPr>
      </a:lvl5pPr>
      <a:lvl6pPr marL="3688164" indent="-335288" algn="l" defTabSz="670575" rtl="0" eaLnBrk="1" latinLnBrk="0" hangingPunct="1">
        <a:spcBef>
          <a:spcPct val="20000"/>
        </a:spcBef>
        <a:spcAft>
          <a:spcPts val="880"/>
        </a:spcAft>
        <a:buClr>
          <a:schemeClr val="accent1"/>
        </a:buClr>
        <a:buSzPct val="115000"/>
        <a:buFont typeface="Arial"/>
        <a:buChar char="•"/>
        <a:defRPr sz="2053" kern="1200" cap="none">
          <a:solidFill>
            <a:schemeClr val="tx1">
              <a:lumMod val="85000"/>
              <a:lumOff val="15000"/>
            </a:schemeClr>
          </a:solidFill>
          <a:effectLst/>
          <a:latin typeface="+mn-lt"/>
          <a:ea typeface="+mn-ea"/>
          <a:cs typeface="+mn-cs"/>
        </a:defRPr>
      </a:lvl6pPr>
      <a:lvl7pPr marL="4358739" indent="-335288" algn="l" defTabSz="670575" rtl="0" eaLnBrk="1" latinLnBrk="0" hangingPunct="1">
        <a:spcBef>
          <a:spcPct val="20000"/>
        </a:spcBef>
        <a:spcAft>
          <a:spcPts val="880"/>
        </a:spcAft>
        <a:buClr>
          <a:schemeClr val="accent1"/>
        </a:buClr>
        <a:buSzPct val="115000"/>
        <a:buFont typeface="Arial"/>
        <a:buChar char="•"/>
        <a:defRPr sz="2053" kern="1200" cap="none">
          <a:solidFill>
            <a:schemeClr val="tx1">
              <a:lumMod val="85000"/>
              <a:lumOff val="15000"/>
            </a:schemeClr>
          </a:solidFill>
          <a:effectLst/>
          <a:latin typeface="+mn-lt"/>
          <a:ea typeface="+mn-ea"/>
          <a:cs typeface="+mn-cs"/>
        </a:defRPr>
      </a:lvl7pPr>
      <a:lvl8pPr marL="5029314" indent="-335288" algn="l" defTabSz="670575" rtl="0" eaLnBrk="1" latinLnBrk="0" hangingPunct="1">
        <a:spcBef>
          <a:spcPct val="20000"/>
        </a:spcBef>
        <a:spcAft>
          <a:spcPts val="880"/>
        </a:spcAft>
        <a:buClr>
          <a:schemeClr val="accent1"/>
        </a:buClr>
        <a:buSzPct val="115000"/>
        <a:buFont typeface="Arial"/>
        <a:buChar char="•"/>
        <a:defRPr sz="2053" kern="1200" cap="none">
          <a:solidFill>
            <a:schemeClr val="tx1">
              <a:lumMod val="85000"/>
              <a:lumOff val="15000"/>
            </a:schemeClr>
          </a:solidFill>
          <a:effectLst/>
          <a:latin typeface="+mn-lt"/>
          <a:ea typeface="+mn-ea"/>
          <a:cs typeface="+mn-cs"/>
        </a:defRPr>
      </a:lvl8pPr>
      <a:lvl9pPr marL="5699890" indent="-335288" algn="l" defTabSz="670575" rtl="0" eaLnBrk="1" latinLnBrk="0" hangingPunct="1">
        <a:spcBef>
          <a:spcPct val="20000"/>
        </a:spcBef>
        <a:spcAft>
          <a:spcPts val="880"/>
        </a:spcAft>
        <a:buClr>
          <a:schemeClr val="accent1"/>
        </a:buClr>
        <a:buSzPct val="115000"/>
        <a:buFont typeface="Arial"/>
        <a:buChar char="•"/>
        <a:defRPr sz="2053" kern="1200" cap="none">
          <a:solidFill>
            <a:schemeClr val="tx1">
              <a:lumMod val="85000"/>
              <a:lumOff val="15000"/>
            </a:schemeClr>
          </a:solidFill>
          <a:effectLst/>
          <a:latin typeface="+mn-lt"/>
          <a:ea typeface="+mn-ea"/>
          <a:cs typeface="+mn-cs"/>
        </a:defRPr>
      </a:lvl9pPr>
    </p:bodyStyle>
    <p:otherStyle>
      <a:defPPr>
        <a:defRPr lang="en-US"/>
      </a:defPPr>
      <a:lvl1pPr marL="0" algn="l" defTabSz="670575" rtl="0" eaLnBrk="1" latinLnBrk="0" hangingPunct="1">
        <a:defRPr sz="2640" kern="1200">
          <a:solidFill>
            <a:schemeClr val="tx1"/>
          </a:solidFill>
          <a:latin typeface="+mn-lt"/>
          <a:ea typeface="+mn-ea"/>
          <a:cs typeface="+mn-cs"/>
        </a:defRPr>
      </a:lvl1pPr>
      <a:lvl2pPr marL="670575" algn="l" defTabSz="670575" rtl="0" eaLnBrk="1" latinLnBrk="0" hangingPunct="1">
        <a:defRPr sz="2640" kern="1200">
          <a:solidFill>
            <a:schemeClr val="tx1"/>
          </a:solidFill>
          <a:latin typeface="+mn-lt"/>
          <a:ea typeface="+mn-ea"/>
          <a:cs typeface="+mn-cs"/>
        </a:defRPr>
      </a:lvl2pPr>
      <a:lvl3pPr marL="1341150" algn="l" defTabSz="670575" rtl="0" eaLnBrk="1" latinLnBrk="0" hangingPunct="1">
        <a:defRPr sz="2640" kern="1200">
          <a:solidFill>
            <a:schemeClr val="tx1"/>
          </a:solidFill>
          <a:latin typeface="+mn-lt"/>
          <a:ea typeface="+mn-ea"/>
          <a:cs typeface="+mn-cs"/>
        </a:defRPr>
      </a:lvl3pPr>
      <a:lvl4pPr marL="2011726" algn="l" defTabSz="670575" rtl="0" eaLnBrk="1" latinLnBrk="0" hangingPunct="1">
        <a:defRPr sz="2640" kern="1200">
          <a:solidFill>
            <a:schemeClr val="tx1"/>
          </a:solidFill>
          <a:latin typeface="+mn-lt"/>
          <a:ea typeface="+mn-ea"/>
          <a:cs typeface="+mn-cs"/>
        </a:defRPr>
      </a:lvl4pPr>
      <a:lvl5pPr marL="2682301" algn="l" defTabSz="670575" rtl="0" eaLnBrk="1" latinLnBrk="0" hangingPunct="1">
        <a:defRPr sz="2640" kern="1200">
          <a:solidFill>
            <a:schemeClr val="tx1"/>
          </a:solidFill>
          <a:latin typeface="+mn-lt"/>
          <a:ea typeface="+mn-ea"/>
          <a:cs typeface="+mn-cs"/>
        </a:defRPr>
      </a:lvl5pPr>
      <a:lvl6pPr marL="3352876" algn="l" defTabSz="670575" rtl="0" eaLnBrk="1" latinLnBrk="0" hangingPunct="1">
        <a:defRPr sz="2640" kern="1200">
          <a:solidFill>
            <a:schemeClr val="tx1"/>
          </a:solidFill>
          <a:latin typeface="+mn-lt"/>
          <a:ea typeface="+mn-ea"/>
          <a:cs typeface="+mn-cs"/>
        </a:defRPr>
      </a:lvl6pPr>
      <a:lvl7pPr marL="4023451" algn="l" defTabSz="670575" rtl="0" eaLnBrk="1" latinLnBrk="0" hangingPunct="1">
        <a:defRPr sz="2640" kern="1200">
          <a:solidFill>
            <a:schemeClr val="tx1"/>
          </a:solidFill>
          <a:latin typeface="+mn-lt"/>
          <a:ea typeface="+mn-ea"/>
          <a:cs typeface="+mn-cs"/>
        </a:defRPr>
      </a:lvl7pPr>
      <a:lvl8pPr marL="4694027" algn="l" defTabSz="670575" rtl="0" eaLnBrk="1" latinLnBrk="0" hangingPunct="1">
        <a:defRPr sz="2640" kern="1200">
          <a:solidFill>
            <a:schemeClr val="tx1"/>
          </a:solidFill>
          <a:latin typeface="+mn-lt"/>
          <a:ea typeface="+mn-ea"/>
          <a:cs typeface="+mn-cs"/>
        </a:defRPr>
      </a:lvl8pPr>
      <a:lvl9pPr marL="5364602" algn="l" defTabSz="670575" rtl="0" eaLnBrk="1" latinLnBrk="0" hangingPunct="1">
        <a:defRPr sz="2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6211D-E7AD-441B-93B8-FE18E8ECD536}"/>
              </a:ext>
            </a:extLst>
          </p:cNvPr>
          <p:cNvSpPr>
            <a:spLocks noGrp="1"/>
          </p:cNvSpPr>
          <p:nvPr>
            <p:ph type="ctrTitle"/>
          </p:nvPr>
        </p:nvSpPr>
        <p:spPr/>
        <p:txBody>
          <a:bodyPr/>
          <a:lstStyle/>
          <a:p>
            <a:r>
              <a:rPr lang="en-US" dirty="0"/>
              <a:t>WILLIAMS LIMITED STRESS ANALYSIS</a:t>
            </a:r>
          </a:p>
        </p:txBody>
      </p:sp>
      <p:sp>
        <p:nvSpPr>
          <p:cNvPr id="3" name="Subtitle 2">
            <a:extLst>
              <a:ext uri="{FF2B5EF4-FFF2-40B4-BE49-F238E27FC236}">
                <a16:creationId xmlns:a16="http://schemas.microsoft.com/office/drawing/2014/main" id="{F4EFE419-36E0-42BC-BB8B-50919DADF145}"/>
              </a:ext>
            </a:extLst>
          </p:cNvPr>
          <p:cNvSpPr>
            <a:spLocks noGrp="1"/>
          </p:cNvSpPr>
          <p:nvPr>
            <p:ph type="subTitle" idx="1"/>
          </p:nvPr>
        </p:nvSpPr>
        <p:spPr/>
        <p:txBody>
          <a:bodyPr/>
          <a:lstStyle/>
          <a:p>
            <a:r>
              <a:rPr lang="en-US" dirty="0"/>
              <a:t>BY AARON OTOMOFA</a:t>
            </a:r>
          </a:p>
        </p:txBody>
      </p:sp>
    </p:spTree>
    <p:extLst>
      <p:ext uri="{BB962C8B-B14F-4D97-AF65-F5344CB8AC3E}">
        <p14:creationId xmlns:p14="http://schemas.microsoft.com/office/powerpoint/2010/main" val="2020985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0DF9-6BFF-494A-900A-D08C0B6E3C01}"/>
              </a:ext>
            </a:extLst>
          </p:cNvPr>
          <p:cNvSpPr>
            <a:spLocks noGrp="1"/>
          </p:cNvSpPr>
          <p:nvPr>
            <p:ph type="title"/>
          </p:nvPr>
        </p:nvSpPr>
        <p:spPr/>
        <p:txBody>
          <a:bodyPr/>
          <a:lstStyle/>
          <a:p>
            <a:r>
              <a:rPr lang="en-US" b="1" u="sng" dirty="0"/>
              <a:t>Background</a:t>
            </a:r>
          </a:p>
        </p:txBody>
      </p:sp>
      <p:sp>
        <p:nvSpPr>
          <p:cNvPr id="3" name="Content Placeholder 2">
            <a:extLst>
              <a:ext uri="{FF2B5EF4-FFF2-40B4-BE49-F238E27FC236}">
                <a16:creationId xmlns:a16="http://schemas.microsoft.com/office/drawing/2014/main" id="{B2785A1C-8A59-49F4-9E9F-82400F354DC7}"/>
              </a:ext>
            </a:extLst>
          </p:cNvPr>
          <p:cNvSpPr>
            <a:spLocks noGrp="1"/>
          </p:cNvSpPr>
          <p:nvPr>
            <p:ph idx="1"/>
          </p:nvPr>
        </p:nvSpPr>
        <p:spPr/>
        <p:txBody>
          <a:bodyPr/>
          <a:lstStyle/>
          <a:p>
            <a:r>
              <a:rPr lang="en-US" b="1" dirty="0"/>
              <a:t> </a:t>
            </a:r>
            <a:r>
              <a:rPr lang="en-US" dirty="0"/>
              <a:t>Williams Limited is a company located in the urban part of Lagos, Nigeria. They specialize in the production and sales of polythene bags  of Different sizes, colors and designs. This project was carried out to study the stress pattern noticed in the workers, and how best it can be managed. The project aims to help improve the workers productivity and also help them better maintain a healthy living.</a:t>
            </a:r>
          </a:p>
          <a:p>
            <a:endParaRPr lang="en-US" dirty="0"/>
          </a:p>
          <a:p>
            <a:endParaRPr lang="en-US" dirty="0"/>
          </a:p>
        </p:txBody>
      </p:sp>
    </p:spTree>
    <p:extLst>
      <p:ext uri="{BB962C8B-B14F-4D97-AF65-F5344CB8AC3E}">
        <p14:creationId xmlns:p14="http://schemas.microsoft.com/office/powerpoint/2010/main" val="73317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0DF9-6BFF-494A-900A-D08C0B6E3C01}"/>
              </a:ext>
            </a:extLst>
          </p:cNvPr>
          <p:cNvSpPr>
            <a:spLocks noGrp="1"/>
          </p:cNvSpPr>
          <p:nvPr>
            <p:ph type="title"/>
          </p:nvPr>
        </p:nvSpPr>
        <p:spPr>
          <a:xfrm>
            <a:off x="1899922" y="1154711"/>
            <a:ext cx="14081754" cy="1912338"/>
          </a:xfrm>
        </p:spPr>
        <p:txBody>
          <a:bodyPr/>
          <a:lstStyle/>
          <a:p>
            <a:r>
              <a:rPr lang="en-US" b="1" u="sng" dirty="0"/>
              <a:t>Data description</a:t>
            </a:r>
          </a:p>
        </p:txBody>
      </p:sp>
      <p:sp>
        <p:nvSpPr>
          <p:cNvPr id="3" name="Content Placeholder 2">
            <a:extLst>
              <a:ext uri="{FF2B5EF4-FFF2-40B4-BE49-F238E27FC236}">
                <a16:creationId xmlns:a16="http://schemas.microsoft.com/office/drawing/2014/main" id="{B2785A1C-8A59-49F4-9E9F-82400F354DC7}"/>
              </a:ext>
            </a:extLst>
          </p:cNvPr>
          <p:cNvSpPr>
            <a:spLocks noGrp="1"/>
          </p:cNvSpPr>
          <p:nvPr>
            <p:ph idx="1"/>
          </p:nvPr>
        </p:nvSpPr>
        <p:spPr>
          <a:xfrm>
            <a:off x="1347472" y="3067049"/>
            <a:ext cx="14081754" cy="5928219"/>
          </a:xfrm>
        </p:spPr>
        <p:txBody>
          <a:bodyPr>
            <a:normAutofit/>
          </a:bodyPr>
          <a:lstStyle/>
          <a:p>
            <a:pPr marL="0" indent="0">
              <a:buNone/>
            </a:pPr>
            <a:endParaRPr lang="en-US" dirty="0"/>
          </a:p>
          <a:p>
            <a:pPr marL="0" indent="0">
              <a:buNone/>
            </a:pPr>
            <a:endParaRPr lang="en-US" dirty="0"/>
          </a:p>
          <a:p>
            <a:r>
              <a:rPr lang="en-US" b="1" u="sng" dirty="0"/>
              <a:t>Data source: </a:t>
            </a:r>
            <a:endParaRPr lang="en-US" dirty="0"/>
          </a:p>
          <a:p>
            <a:pPr lvl="0"/>
            <a:r>
              <a:rPr lang="en-US" dirty="0"/>
              <a:t>Title: Stress levels</a:t>
            </a:r>
          </a:p>
          <a:p>
            <a:pPr lvl="0"/>
            <a:r>
              <a:rPr lang="en-US" dirty="0"/>
              <a:t>Provided by: The Human Resource department of Williams ltd</a:t>
            </a:r>
          </a:p>
          <a:p>
            <a:pPr lvl="0"/>
            <a:r>
              <a:rPr lang="en-US" dirty="0"/>
              <a:t>Date: August, 2024</a:t>
            </a:r>
          </a:p>
          <a:p>
            <a:pPr lvl="0"/>
            <a:r>
              <a:rPr lang="en-US" dirty="0"/>
              <a:t>Format: CSV.</a:t>
            </a:r>
          </a:p>
        </p:txBody>
      </p:sp>
    </p:spTree>
    <p:extLst>
      <p:ext uri="{BB962C8B-B14F-4D97-AF65-F5344CB8AC3E}">
        <p14:creationId xmlns:p14="http://schemas.microsoft.com/office/powerpoint/2010/main" val="381238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928B9-1BAD-4910-9621-4D301005C0F8}"/>
              </a:ext>
            </a:extLst>
          </p:cNvPr>
          <p:cNvSpPr>
            <a:spLocks noGrp="1"/>
          </p:cNvSpPr>
          <p:nvPr>
            <p:ph type="title"/>
          </p:nvPr>
        </p:nvSpPr>
        <p:spPr/>
        <p:txBody>
          <a:bodyPr/>
          <a:lstStyle/>
          <a:p>
            <a:r>
              <a:rPr lang="en-US" dirty="0"/>
              <a:t>Data description cont.</a:t>
            </a:r>
          </a:p>
        </p:txBody>
      </p:sp>
      <p:sp>
        <p:nvSpPr>
          <p:cNvPr id="3" name="Content Placeholder 2">
            <a:extLst>
              <a:ext uri="{FF2B5EF4-FFF2-40B4-BE49-F238E27FC236}">
                <a16:creationId xmlns:a16="http://schemas.microsoft.com/office/drawing/2014/main" id="{936D4858-82FB-4769-8CBC-A333F78C6AEB}"/>
              </a:ext>
            </a:extLst>
          </p:cNvPr>
          <p:cNvSpPr>
            <a:spLocks noGrp="1"/>
          </p:cNvSpPr>
          <p:nvPr>
            <p:ph idx="1"/>
          </p:nvPr>
        </p:nvSpPr>
        <p:spPr/>
        <p:txBody>
          <a:bodyPr>
            <a:normAutofit fontScale="92500" lnSpcReduction="20000"/>
          </a:bodyPr>
          <a:lstStyle/>
          <a:p>
            <a:r>
              <a:rPr lang="en-US" b="1" u="sng" dirty="0"/>
              <a:t>Data collection:</a:t>
            </a:r>
            <a:r>
              <a:rPr lang="en-US" dirty="0"/>
              <a:t> Data was collected through surveys, and monitoring systems.</a:t>
            </a:r>
          </a:p>
          <a:p>
            <a:r>
              <a:rPr lang="en-US" b="1" u="sng" dirty="0"/>
              <a:t>Data characteristics:</a:t>
            </a:r>
            <a:r>
              <a:rPr lang="en-US" dirty="0"/>
              <a:t> The dataset consists of 18 columns and 5000 rows.</a:t>
            </a:r>
          </a:p>
          <a:p>
            <a:r>
              <a:rPr lang="en-US" dirty="0"/>
              <a:t>Then, during data cleaning, extra 4 columns were created for efficient analysis. The columns include;</a:t>
            </a:r>
          </a:p>
          <a:p>
            <a:r>
              <a:rPr lang="en-US" dirty="0"/>
              <a:t>Age	int		</a:t>
            </a:r>
          </a:p>
          <a:p>
            <a:r>
              <a:rPr lang="en-US" dirty="0"/>
              <a:t>Age Group</a:t>
            </a:r>
          </a:p>
          <a:p>
            <a:r>
              <a:rPr lang="en-US" dirty="0"/>
              <a:t>Stress category	</a:t>
            </a:r>
          </a:p>
          <a:p>
            <a:r>
              <a:rPr lang="en-US" dirty="0"/>
              <a:t>Test Time category	</a:t>
            </a:r>
          </a:p>
          <a:p>
            <a:endParaRPr lang="en-US" dirty="0"/>
          </a:p>
        </p:txBody>
      </p:sp>
    </p:spTree>
    <p:extLst>
      <p:ext uri="{BB962C8B-B14F-4D97-AF65-F5344CB8AC3E}">
        <p14:creationId xmlns:p14="http://schemas.microsoft.com/office/powerpoint/2010/main" val="3081588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9092-18F8-435D-A8DD-57E0CF8043EE}"/>
              </a:ext>
            </a:extLst>
          </p:cNvPr>
          <p:cNvSpPr>
            <a:spLocks noGrp="1"/>
          </p:cNvSpPr>
          <p:nvPr>
            <p:ph type="title"/>
          </p:nvPr>
        </p:nvSpPr>
        <p:spPr/>
        <p:txBody>
          <a:bodyPr/>
          <a:lstStyle/>
          <a:p>
            <a:r>
              <a:rPr lang="en-US" b="1" u="sng" dirty="0"/>
              <a:t>Problem statement</a:t>
            </a:r>
          </a:p>
        </p:txBody>
      </p:sp>
      <p:sp>
        <p:nvSpPr>
          <p:cNvPr id="3" name="Content Placeholder 2">
            <a:extLst>
              <a:ext uri="{FF2B5EF4-FFF2-40B4-BE49-F238E27FC236}">
                <a16:creationId xmlns:a16="http://schemas.microsoft.com/office/drawing/2014/main" id="{F348B216-C7C9-4E57-96CD-FD9B073CA029}"/>
              </a:ext>
            </a:extLst>
          </p:cNvPr>
          <p:cNvSpPr>
            <a:spLocks noGrp="1"/>
          </p:cNvSpPr>
          <p:nvPr>
            <p:ph idx="1"/>
          </p:nvPr>
        </p:nvSpPr>
        <p:spPr/>
        <p:txBody>
          <a:bodyPr/>
          <a:lstStyle/>
          <a:p>
            <a:r>
              <a:rPr lang="en-US" dirty="0"/>
              <a:t>This project aims to analyze the level of stress that employees of the company undergo, the effect on their health (both physically and emotionally) and also provide findings and recommendations that can help the company make better informed decisions on how best to manage stress and help the workers maintain a healthy lifestyle, and overall improve productivity.</a:t>
            </a:r>
          </a:p>
        </p:txBody>
      </p:sp>
    </p:spTree>
    <p:extLst>
      <p:ext uri="{BB962C8B-B14F-4D97-AF65-F5344CB8AC3E}">
        <p14:creationId xmlns:p14="http://schemas.microsoft.com/office/powerpoint/2010/main" val="821206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995B-2D8A-4619-B279-9383CCF05AD6}"/>
              </a:ext>
            </a:extLst>
          </p:cNvPr>
          <p:cNvSpPr>
            <a:spLocks noGrp="1"/>
          </p:cNvSpPr>
          <p:nvPr>
            <p:ph type="title"/>
          </p:nvPr>
        </p:nvSpPr>
        <p:spPr>
          <a:xfrm>
            <a:off x="4140202" y="2140638"/>
            <a:ext cx="9601196" cy="1303867"/>
          </a:xfrm>
        </p:spPr>
        <p:txBody>
          <a:bodyPr/>
          <a:lstStyle/>
          <a:p>
            <a:r>
              <a:rPr lang="en-US" b="1" u="sng" dirty="0"/>
              <a:t>Objectives </a:t>
            </a:r>
          </a:p>
        </p:txBody>
      </p:sp>
      <p:sp>
        <p:nvSpPr>
          <p:cNvPr id="3" name="Content Placeholder 2">
            <a:extLst>
              <a:ext uri="{FF2B5EF4-FFF2-40B4-BE49-F238E27FC236}">
                <a16:creationId xmlns:a16="http://schemas.microsoft.com/office/drawing/2014/main" id="{782746CF-C357-4935-B5F6-DB8E7EDB54B7}"/>
              </a:ext>
            </a:extLst>
          </p:cNvPr>
          <p:cNvSpPr>
            <a:spLocks noGrp="1"/>
          </p:cNvSpPr>
          <p:nvPr>
            <p:ph idx="1"/>
          </p:nvPr>
        </p:nvSpPr>
        <p:spPr>
          <a:xfrm>
            <a:off x="2044700" y="4076878"/>
            <a:ext cx="10471150" cy="4495622"/>
          </a:xfrm>
        </p:spPr>
        <p:txBody>
          <a:bodyPr>
            <a:normAutofit fontScale="62500" lnSpcReduction="20000"/>
          </a:bodyPr>
          <a:lstStyle/>
          <a:p>
            <a:pPr lvl="0"/>
            <a:r>
              <a:rPr lang="en-US" sz="4600" dirty="0">
                <a:solidFill>
                  <a:schemeClr val="tx1"/>
                </a:solidFill>
                <a:cs typeface="Calibri" panose="020F0502020204030204" pitchFamily="34" charset="0"/>
              </a:rPr>
              <a:t>To Determine the most common physical symptom, and the effect of physical symptoms on the employees.</a:t>
            </a:r>
          </a:p>
          <a:p>
            <a:pPr lvl="0"/>
            <a:r>
              <a:rPr lang="en-US" sz="4600" dirty="0">
                <a:solidFill>
                  <a:schemeClr val="tx1"/>
                </a:solidFill>
                <a:cs typeface="Calibri" panose="020F0502020204030204" pitchFamily="34" charset="0"/>
              </a:rPr>
              <a:t>To Determine the most common Emotional symptom, and the effect of physical symptoms on the employees.</a:t>
            </a:r>
          </a:p>
          <a:p>
            <a:pPr lvl="0"/>
            <a:r>
              <a:rPr lang="en-US" sz="4600" dirty="0">
                <a:solidFill>
                  <a:schemeClr val="tx1"/>
                </a:solidFill>
                <a:cs typeface="Calibri" panose="020F0502020204030204" pitchFamily="34" charset="0"/>
              </a:rPr>
              <a:t>To investigate the various stress sources and their effect on the workers.</a:t>
            </a:r>
          </a:p>
          <a:p>
            <a:pPr lvl="0"/>
            <a:r>
              <a:rPr lang="en-US" sz="4600" dirty="0">
                <a:solidFill>
                  <a:schemeClr val="tx1"/>
                </a:solidFill>
                <a:cs typeface="Calibri" panose="020F0502020204030204" pitchFamily="34" charset="0"/>
              </a:rPr>
              <a:t>To uncover the effect of the severity of stress on the employees.</a:t>
            </a:r>
          </a:p>
          <a:p>
            <a:pPr lvl="0"/>
            <a:r>
              <a:rPr lang="en-US" sz="4600" dirty="0">
                <a:solidFill>
                  <a:schemeClr val="tx1"/>
                </a:solidFill>
                <a:cs typeface="Calibri" panose="020F0502020204030204" pitchFamily="34" charset="0"/>
              </a:rPr>
              <a:t>To understand the most preferred coping mechanism of the workers and the efficiency of the various coping mechanism.</a:t>
            </a:r>
          </a:p>
          <a:p>
            <a:endParaRPr lang="en-US" dirty="0"/>
          </a:p>
        </p:txBody>
      </p:sp>
    </p:spTree>
    <p:extLst>
      <p:ext uri="{BB962C8B-B14F-4D97-AF65-F5344CB8AC3E}">
        <p14:creationId xmlns:p14="http://schemas.microsoft.com/office/powerpoint/2010/main" val="2908575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6723-6007-4EED-BB22-151926FD4FC4}"/>
              </a:ext>
            </a:extLst>
          </p:cNvPr>
          <p:cNvSpPr>
            <a:spLocks noGrp="1"/>
          </p:cNvSpPr>
          <p:nvPr>
            <p:ph type="title" idx="4294967295"/>
          </p:nvPr>
        </p:nvSpPr>
        <p:spPr>
          <a:xfrm>
            <a:off x="1657350" y="982663"/>
            <a:ext cx="14081125" cy="1912937"/>
          </a:xfrm>
        </p:spPr>
        <p:txBody>
          <a:bodyPr/>
          <a:lstStyle/>
          <a:p>
            <a:r>
              <a:rPr lang="en-US" u="sng" dirty="0"/>
              <a:t>Dashboard overview</a:t>
            </a:r>
          </a:p>
        </p:txBody>
      </p:sp>
      <p:pic>
        <p:nvPicPr>
          <p:cNvPr id="5" name="Picture 4">
            <a:extLst>
              <a:ext uri="{FF2B5EF4-FFF2-40B4-BE49-F238E27FC236}">
                <a16:creationId xmlns:a16="http://schemas.microsoft.com/office/drawing/2014/main" id="{2148814D-25EE-496C-ABB6-EEDC6278A79F}"/>
              </a:ext>
            </a:extLst>
          </p:cNvPr>
          <p:cNvPicPr>
            <a:picLocks noChangeAspect="1"/>
          </p:cNvPicPr>
          <p:nvPr/>
        </p:nvPicPr>
        <p:blipFill>
          <a:blip r:embed="rId2"/>
          <a:stretch>
            <a:fillRect/>
          </a:stretch>
        </p:blipFill>
        <p:spPr>
          <a:xfrm>
            <a:off x="3676651" y="2895600"/>
            <a:ext cx="10883904" cy="5371408"/>
          </a:xfrm>
          <a:prstGeom prst="rect">
            <a:avLst/>
          </a:prstGeom>
        </p:spPr>
      </p:pic>
    </p:spTree>
    <p:extLst>
      <p:ext uri="{BB962C8B-B14F-4D97-AF65-F5344CB8AC3E}">
        <p14:creationId xmlns:p14="http://schemas.microsoft.com/office/powerpoint/2010/main" val="2770491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B6B90-2270-4830-A075-9BE8A1838633}"/>
              </a:ext>
            </a:extLst>
          </p:cNvPr>
          <p:cNvSpPr>
            <a:spLocks noGrp="1"/>
          </p:cNvSpPr>
          <p:nvPr>
            <p:ph type="title"/>
          </p:nvPr>
        </p:nvSpPr>
        <p:spPr>
          <a:xfrm>
            <a:off x="2844800" y="1450688"/>
            <a:ext cx="10515600" cy="1325563"/>
          </a:xfrm>
        </p:spPr>
        <p:txBody>
          <a:bodyPr/>
          <a:lstStyle/>
          <a:p>
            <a:r>
              <a:rPr lang="en-US" b="1" u="sng" dirty="0"/>
              <a:t>Employee Details</a:t>
            </a:r>
          </a:p>
        </p:txBody>
      </p:sp>
      <p:sp>
        <p:nvSpPr>
          <p:cNvPr id="3" name="Content Placeholder 2">
            <a:extLst>
              <a:ext uri="{FF2B5EF4-FFF2-40B4-BE49-F238E27FC236}">
                <a16:creationId xmlns:a16="http://schemas.microsoft.com/office/drawing/2014/main" id="{5AE4A524-8EB1-4D3D-8883-C1C9FE2423BA}"/>
              </a:ext>
            </a:extLst>
          </p:cNvPr>
          <p:cNvSpPr>
            <a:spLocks noGrp="1"/>
          </p:cNvSpPr>
          <p:nvPr>
            <p:ph idx="1"/>
          </p:nvPr>
        </p:nvSpPr>
        <p:spPr>
          <a:xfrm>
            <a:off x="1670049" y="3745634"/>
            <a:ext cx="10515600" cy="4351338"/>
          </a:xfrm>
        </p:spPr>
        <p:txBody>
          <a:bodyPr>
            <a:normAutofit lnSpcReduction="10000"/>
          </a:bodyPr>
          <a:lstStyle/>
          <a:p>
            <a:r>
              <a:rPr lang="en-US" dirty="0"/>
              <a:t>Total employee: 5000</a:t>
            </a:r>
          </a:p>
          <a:p>
            <a:r>
              <a:rPr lang="en-US" dirty="0"/>
              <a:t>The overall Average heart rate = 92</a:t>
            </a:r>
          </a:p>
          <a:p>
            <a:r>
              <a:rPr lang="en-US" dirty="0"/>
              <a:t>The overall Average stress level = 1.3562787</a:t>
            </a:r>
          </a:p>
          <a:p>
            <a:r>
              <a:rPr lang="en-US" dirty="0"/>
              <a:t>The Average age of the employees = 31</a:t>
            </a:r>
          </a:p>
          <a:p>
            <a:r>
              <a:rPr lang="en-US" dirty="0"/>
              <a:t>The Average cortisol level = 16</a:t>
            </a:r>
          </a:p>
          <a:p>
            <a:r>
              <a:rPr lang="en-US" dirty="0"/>
              <a:t>The most common coping mechanism = Exercise.</a:t>
            </a:r>
          </a:p>
          <a:p>
            <a:endParaRPr lang="en-US" dirty="0"/>
          </a:p>
        </p:txBody>
      </p:sp>
      <p:graphicFrame>
        <p:nvGraphicFramePr>
          <p:cNvPr id="9" name="Table 8">
            <a:extLst>
              <a:ext uri="{FF2B5EF4-FFF2-40B4-BE49-F238E27FC236}">
                <a16:creationId xmlns:a16="http://schemas.microsoft.com/office/drawing/2014/main" id="{AF6F2619-43E2-40B3-A0B3-ACA27F814226}"/>
              </a:ext>
            </a:extLst>
          </p:cNvPr>
          <p:cNvGraphicFramePr>
            <a:graphicFrameLocks noGrp="1"/>
          </p:cNvGraphicFramePr>
          <p:nvPr>
            <p:extLst>
              <p:ext uri="{D42A27DB-BD31-4B8C-83A1-F6EECF244321}">
                <p14:modId xmlns:p14="http://schemas.microsoft.com/office/powerpoint/2010/main" val="4180770212"/>
              </p:ext>
            </p:extLst>
          </p:nvPr>
        </p:nvGraphicFramePr>
        <p:xfrm>
          <a:off x="11201401" y="3974235"/>
          <a:ext cx="5448298" cy="5092116"/>
        </p:xfrm>
        <a:graphic>
          <a:graphicData uri="http://schemas.openxmlformats.org/drawingml/2006/table">
            <a:tbl>
              <a:tblPr firstRow="1" firstCol="1" bandRow="1">
                <a:tableStyleId>{5C22544A-7EE6-4342-B048-85BDC9FD1C3A}</a:tableStyleId>
              </a:tblPr>
              <a:tblGrid>
                <a:gridCol w="1238250">
                  <a:extLst>
                    <a:ext uri="{9D8B030D-6E8A-4147-A177-3AD203B41FA5}">
                      <a16:colId xmlns:a16="http://schemas.microsoft.com/office/drawing/2014/main" val="551130280"/>
                    </a:ext>
                  </a:extLst>
                </a:gridCol>
                <a:gridCol w="1080653">
                  <a:extLst>
                    <a:ext uri="{9D8B030D-6E8A-4147-A177-3AD203B41FA5}">
                      <a16:colId xmlns:a16="http://schemas.microsoft.com/office/drawing/2014/main" val="1160875417"/>
                    </a:ext>
                  </a:extLst>
                </a:gridCol>
                <a:gridCol w="1553440">
                  <a:extLst>
                    <a:ext uri="{9D8B030D-6E8A-4147-A177-3AD203B41FA5}">
                      <a16:colId xmlns:a16="http://schemas.microsoft.com/office/drawing/2014/main" val="1576426930"/>
                    </a:ext>
                  </a:extLst>
                </a:gridCol>
                <a:gridCol w="1575955">
                  <a:extLst>
                    <a:ext uri="{9D8B030D-6E8A-4147-A177-3AD203B41FA5}">
                      <a16:colId xmlns:a16="http://schemas.microsoft.com/office/drawing/2014/main" val="1129544270"/>
                    </a:ext>
                  </a:extLst>
                </a:gridCol>
              </a:tblGrid>
              <a:tr h="950220">
                <a:tc>
                  <a:txBody>
                    <a:bodyPr/>
                    <a:lstStyle/>
                    <a:p>
                      <a:pPr marL="0" marR="0">
                        <a:lnSpc>
                          <a:spcPct val="106000"/>
                        </a:lnSpc>
                        <a:spcBef>
                          <a:spcPts val="0"/>
                        </a:spcBef>
                        <a:spcAft>
                          <a:spcPts val="0"/>
                        </a:spcAft>
                      </a:pPr>
                      <a:r>
                        <a:rPr lang="en-US" sz="1800" dirty="0">
                          <a:effectLst/>
                        </a:rPr>
                        <a:t>Age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a:effectLst/>
                        </a:rPr>
                        <a:t>Male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dirty="0">
                          <a:effectLst/>
                        </a:rPr>
                        <a:t>Female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6000"/>
                        </a:lnSpc>
                        <a:spcBef>
                          <a:spcPts val="0"/>
                        </a:spcBef>
                        <a:spcAft>
                          <a:spcPts val="0"/>
                        </a:spcAft>
                      </a:pPr>
                      <a:r>
                        <a:rPr lang="en-US" sz="1800" dirty="0">
                          <a:effectLst/>
                        </a:rPr>
                        <a:t>total number</a:t>
                      </a:r>
                    </a:p>
                    <a:p>
                      <a:pPr marL="0" marR="0">
                        <a:lnSpc>
                          <a:spcPct val="106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Of employees</a:t>
                      </a:r>
                    </a:p>
                  </a:txBody>
                  <a:tcPr marL="68580" marR="68580" marT="0" marB="0"/>
                </a:tc>
                <a:extLst>
                  <a:ext uri="{0D108BD9-81ED-4DB2-BD59-A6C34878D82A}">
                    <a16:rowId xmlns:a16="http://schemas.microsoft.com/office/drawing/2014/main" val="2766138430"/>
                  </a:ext>
                </a:extLst>
              </a:tr>
              <a:tr h="517737">
                <a:tc>
                  <a:txBody>
                    <a:bodyPr/>
                    <a:lstStyle/>
                    <a:p>
                      <a:pPr marL="0" marR="0">
                        <a:lnSpc>
                          <a:spcPct val="106000"/>
                        </a:lnSpc>
                        <a:spcBef>
                          <a:spcPts val="0"/>
                        </a:spcBef>
                        <a:spcAft>
                          <a:spcPts val="0"/>
                        </a:spcAft>
                      </a:pPr>
                      <a:r>
                        <a:rPr lang="en-US" sz="1800" dirty="0">
                          <a:effectLst/>
                        </a:rPr>
                        <a:t>17 - 25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1093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999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2092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886525"/>
                  </a:ext>
                </a:extLst>
              </a:tr>
              <a:tr h="517737">
                <a:tc>
                  <a:txBody>
                    <a:bodyPr/>
                    <a:lstStyle/>
                    <a:p>
                      <a:pPr marL="0" marR="0">
                        <a:lnSpc>
                          <a:spcPct val="106000"/>
                        </a:lnSpc>
                        <a:spcBef>
                          <a:spcPts val="0"/>
                        </a:spcBef>
                        <a:spcAft>
                          <a:spcPts val="0"/>
                        </a:spcAft>
                      </a:pPr>
                      <a:r>
                        <a:rPr lang="en-US" sz="1800" dirty="0">
                          <a:effectLst/>
                        </a:rPr>
                        <a:t>26 - 35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795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801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1596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0823405"/>
                  </a:ext>
                </a:extLst>
              </a:tr>
              <a:tr h="517737">
                <a:tc>
                  <a:txBody>
                    <a:bodyPr/>
                    <a:lstStyle/>
                    <a:p>
                      <a:pPr marL="0" marR="0">
                        <a:lnSpc>
                          <a:spcPct val="106000"/>
                        </a:lnSpc>
                        <a:spcBef>
                          <a:spcPts val="0"/>
                        </a:spcBef>
                        <a:spcAft>
                          <a:spcPts val="0"/>
                        </a:spcAft>
                      </a:pPr>
                      <a:r>
                        <a:rPr lang="en-US" sz="1800" dirty="0">
                          <a:effectLst/>
                        </a:rPr>
                        <a:t>36 - 45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285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270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555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6532591"/>
                  </a:ext>
                </a:extLst>
              </a:tr>
              <a:tr h="517737">
                <a:tc>
                  <a:txBody>
                    <a:bodyPr/>
                    <a:lstStyle/>
                    <a:p>
                      <a:pPr marL="0" marR="0">
                        <a:lnSpc>
                          <a:spcPct val="106000"/>
                        </a:lnSpc>
                        <a:spcBef>
                          <a:spcPts val="0"/>
                        </a:spcBef>
                        <a:spcAft>
                          <a:spcPts val="0"/>
                        </a:spcAft>
                      </a:pPr>
                      <a:r>
                        <a:rPr lang="en-US" sz="1800" dirty="0">
                          <a:effectLst/>
                        </a:rPr>
                        <a:t>46 - 55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190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172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362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2905011"/>
                  </a:ext>
                </a:extLst>
              </a:tr>
              <a:tr h="517737">
                <a:tc>
                  <a:txBody>
                    <a:bodyPr/>
                    <a:lstStyle/>
                    <a:p>
                      <a:pPr marL="0" marR="0">
                        <a:lnSpc>
                          <a:spcPct val="106000"/>
                        </a:lnSpc>
                        <a:spcBef>
                          <a:spcPts val="0"/>
                        </a:spcBef>
                        <a:spcAft>
                          <a:spcPts val="0"/>
                        </a:spcAft>
                      </a:pPr>
                      <a:r>
                        <a:rPr lang="en-US" sz="1800" dirty="0">
                          <a:effectLst/>
                        </a:rPr>
                        <a:t>56 - 65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126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113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239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9854702"/>
                  </a:ext>
                </a:extLst>
              </a:tr>
              <a:tr h="517737">
                <a:tc>
                  <a:txBody>
                    <a:bodyPr/>
                    <a:lstStyle/>
                    <a:p>
                      <a:pPr marL="0" marR="0">
                        <a:lnSpc>
                          <a:spcPct val="106000"/>
                        </a:lnSpc>
                        <a:spcBef>
                          <a:spcPts val="0"/>
                        </a:spcBef>
                        <a:spcAft>
                          <a:spcPts val="0"/>
                        </a:spcAft>
                      </a:pPr>
                      <a:r>
                        <a:rPr lang="en-US" sz="1800" dirty="0">
                          <a:effectLst/>
                        </a:rPr>
                        <a:t>66 - 75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62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57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119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1825842"/>
                  </a:ext>
                </a:extLst>
              </a:tr>
              <a:tr h="517737">
                <a:tc>
                  <a:txBody>
                    <a:bodyPr/>
                    <a:lstStyle/>
                    <a:p>
                      <a:pPr marL="0" marR="0">
                        <a:lnSpc>
                          <a:spcPct val="106000"/>
                        </a:lnSpc>
                        <a:spcBef>
                          <a:spcPts val="0"/>
                        </a:spcBef>
                        <a:spcAft>
                          <a:spcPts val="0"/>
                        </a:spcAft>
                      </a:pPr>
                      <a:r>
                        <a:rPr lang="en-US" sz="1800" dirty="0">
                          <a:effectLst/>
                        </a:rPr>
                        <a:t>76 - 79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20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17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a:effectLst/>
                        </a:rPr>
                        <a:t>37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0927771"/>
                  </a:ext>
                </a:extLst>
              </a:tr>
              <a:tr h="517737">
                <a:tc>
                  <a:txBody>
                    <a:bodyPr/>
                    <a:lstStyle/>
                    <a:p>
                      <a:pPr marL="0" marR="0">
                        <a:lnSpc>
                          <a:spcPct val="106000"/>
                        </a:lnSpc>
                        <a:spcBef>
                          <a:spcPts val="0"/>
                        </a:spcBef>
                        <a:spcAft>
                          <a:spcPts val="0"/>
                        </a:spcAft>
                      </a:pPr>
                      <a:r>
                        <a:rPr lang="en-US" sz="1800" dirty="0">
                          <a:effectLst/>
                        </a:rPr>
                        <a:t>Total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dirty="0">
                          <a:effectLst/>
                        </a:rPr>
                        <a:t>2571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dirty="0">
                          <a:effectLst/>
                        </a:rPr>
                        <a:t>2429</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r">
                        <a:lnSpc>
                          <a:spcPct val="106000"/>
                        </a:lnSpc>
                        <a:spcBef>
                          <a:spcPts val="0"/>
                        </a:spcBef>
                        <a:spcAft>
                          <a:spcPts val="0"/>
                        </a:spcAft>
                      </a:pPr>
                      <a:r>
                        <a:rPr lang="en-US" sz="1800" dirty="0">
                          <a:effectLst/>
                        </a:rPr>
                        <a:t>5000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0741189"/>
                  </a:ext>
                </a:extLst>
              </a:tr>
            </a:tbl>
          </a:graphicData>
        </a:graphic>
      </p:graphicFrame>
    </p:spTree>
    <p:extLst>
      <p:ext uri="{BB962C8B-B14F-4D97-AF65-F5344CB8AC3E}">
        <p14:creationId xmlns:p14="http://schemas.microsoft.com/office/powerpoint/2010/main" val="1075757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59804-262A-4490-A28B-B3243953B9FE}"/>
              </a:ext>
            </a:extLst>
          </p:cNvPr>
          <p:cNvSpPr>
            <a:spLocks noGrp="1"/>
          </p:cNvSpPr>
          <p:nvPr>
            <p:ph type="title"/>
          </p:nvPr>
        </p:nvSpPr>
        <p:spPr/>
        <p:txBody>
          <a:bodyPr/>
          <a:lstStyle/>
          <a:p>
            <a:r>
              <a:rPr lang="en-US" b="1" u="sng" dirty="0"/>
              <a:t>ANALYSIS</a:t>
            </a:r>
          </a:p>
        </p:txBody>
      </p:sp>
      <p:graphicFrame>
        <p:nvGraphicFramePr>
          <p:cNvPr id="10" name="Content Placeholder 9">
            <a:extLst>
              <a:ext uri="{FF2B5EF4-FFF2-40B4-BE49-F238E27FC236}">
                <a16:creationId xmlns:a16="http://schemas.microsoft.com/office/drawing/2014/main" id="{6F26E196-73F4-463C-BE55-98FC2FD8F451}"/>
              </a:ext>
            </a:extLst>
          </p:cNvPr>
          <p:cNvGraphicFramePr>
            <a:graphicFrameLocks noGrp="1"/>
          </p:cNvGraphicFramePr>
          <p:nvPr>
            <p:ph idx="1"/>
            <p:extLst>
              <p:ext uri="{D42A27DB-BD31-4B8C-83A1-F6EECF244321}">
                <p14:modId xmlns:p14="http://schemas.microsoft.com/office/powerpoint/2010/main" val="1493364564"/>
              </p:ext>
            </p:extLst>
          </p:nvPr>
        </p:nvGraphicFramePr>
        <p:xfrm>
          <a:off x="1310959" y="4187825"/>
          <a:ext cx="6442391" cy="41751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D1CAADE5-F0CF-4B9F-BF82-79604E3EBA81}"/>
              </a:ext>
            </a:extLst>
          </p:cNvPr>
          <p:cNvGraphicFramePr>
            <a:graphicFrameLocks/>
          </p:cNvGraphicFramePr>
          <p:nvPr>
            <p:extLst>
              <p:ext uri="{D42A27DB-BD31-4B8C-83A1-F6EECF244321}">
                <p14:modId xmlns:p14="http://schemas.microsoft.com/office/powerpoint/2010/main" val="1591492520"/>
              </p:ext>
            </p:extLst>
          </p:nvPr>
        </p:nvGraphicFramePr>
        <p:xfrm>
          <a:off x="9636124" y="4187825"/>
          <a:ext cx="5813426" cy="41751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7878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6978B2B5-BDBF-4891-82DF-389BC04D43FB}"/>
              </a:ext>
            </a:extLst>
          </p:cNvPr>
          <p:cNvGraphicFramePr>
            <a:graphicFrameLocks/>
          </p:cNvGraphicFramePr>
          <p:nvPr>
            <p:extLst>
              <p:ext uri="{D42A27DB-BD31-4B8C-83A1-F6EECF244321}">
                <p14:modId xmlns:p14="http://schemas.microsoft.com/office/powerpoint/2010/main" val="3736113523"/>
              </p:ext>
            </p:extLst>
          </p:nvPr>
        </p:nvGraphicFramePr>
        <p:xfrm>
          <a:off x="1681955" y="5309304"/>
          <a:ext cx="6053643" cy="307269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117E4825-015C-426A-BE6F-9607B8D6F65E}"/>
              </a:ext>
            </a:extLst>
          </p:cNvPr>
          <p:cNvGraphicFramePr>
            <a:graphicFrameLocks/>
          </p:cNvGraphicFramePr>
          <p:nvPr>
            <p:extLst>
              <p:ext uri="{D42A27DB-BD31-4B8C-83A1-F6EECF244321}">
                <p14:modId xmlns:p14="http://schemas.microsoft.com/office/powerpoint/2010/main" val="4043138209"/>
              </p:ext>
            </p:extLst>
          </p:nvPr>
        </p:nvGraphicFramePr>
        <p:xfrm>
          <a:off x="10146002" y="5309304"/>
          <a:ext cx="5836948" cy="262967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75098934-40FE-46E1-81A4-4BF17FCC56D4}"/>
              </a:ext>
            </a:extLst>
          </p:cNvPr>
          <p:cNvGraphicFramePr>
            <a:graphicFrameLocks/>
          </p:cNvGraphicFramePr>
          <p:nvPr>
            <p:extLst>
              <p:ext uri="{D42A27DB-BD31-4B8C-83A1-F6EECF244321}">
                <p14:modId xmlns:p14="http://schemas.microsoft.com/office/powerpoint/2010/main" val="479398889"/>
              </p:ext>
            </p:extLst>
          </p:nvPr>
        </p:nvGraphicFramePr>
        <p:xfrm>
          <a:off x="9583737" y="1959859"/>
          <a:ext cx="6053642" cy="334944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7C82B4A8-2C7D-4F09-A835-DB769AB39AC2}"/>
              </a:ext>
            </a:extLst>
          </p:cNvPr>
          <p:cNvGraphicFramePr>
            <a:graphicFrameLocks/>
          </p:cNvGraphicFramePr>
          <p:nvPr>
            <p:extLst>
              <p:ext uri="{D42A27DB-BD31-4B8C-83A1-F6EECF244321}">
                <p14:modId xmlns:p14="http://schemas.microsoft.com/office/powerpoint/2010/main" val="3152262430"/>
              </p:ext>
            </p:extLst>
          </p:nvPr>
        </p:nvGraphicFramePr>
        <p:xfrm>
          <a:off x="1473200" y="1676400"/>
          <a:ext cx="5480050" cy="307269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86889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A18-3EE9-4B08-AFC8-D397D4488994}"/>
              </a:ext>
            </a:extLst>
          </p:cNvPr>
          <p:cNvSpPr>
            <a:spLocks noGrp="1"/>
          </p:cNvSpPr>
          <p:nvPr>
            <p:ph type="title" idx="4294967295"/>
          </p:nvPr>
        </p:nvSpPr>
        <p:spPr>
          <a:xfrm>
            <a:off x="4140200" y="1057275"/>
            <a:ext cx="9601200" cy="1303338"/>
          </a:xfrm>
        </p:spPr>
        <p:txBody>
          <a:bodyPr/>
          <a:lstStyle/>
          <a:p>
            <a:r>
              <a:rPr lang="en-US" b="1" u="sng" dirty="0"/>
              <a:t>Insights </a:t>
            </a:r>
          </a:p>
        </p:txBody>
      </p:sp>
      <p:sp>
        <p:nvSpPr>
          <p:cNvPr id="3" name="Content Placeholder 2">
            <a:extLst>
              <a:ext uri="{FF2B5EF4-FFF2-40B4-BE49-F238E27FC236}">
                <a16:creationId xmlns:a16="http://schemas.microsoft.com/office/drawing/2014/main" id="{81067E45-7609-4494-99A8-5850632BB984}"/>
              </a:ext>
            </a:extLst>
          </p:cNvPr>
          <p:cNvSpPr>
            <a:spLocks noGrp="1"/>
          </p:cNvSpPr>
          <p:nvPr>
            <p:ph idx="4294967295"/>
          </p:nvPr>
        </p:nvSpPr>
        <p:spPr>
          <a:xfrm>
            <a:off x="2171700" y="2341959"/>
            <a:ext cx="10858500" cy="6659166"/>
          </a:xfrm>
        </p:spPr>
        <p:txBody>
          <a:bodyPr>
            <a:normAutofit fontScale="85000" lnSpcReduction="20000"/>
          </a:bodyPr>
          <a:lstStyle/>
          <a:p>
            <a:pPr marL="0" indent="0">
              <a:buNone/>
            </a:pPr>
            <a:endParaRPr lang="en-US" dirty="0"/>
          </a:p>
          <a:p>
            <a:pPr lvl="0"/>
            <a:r>
              <a:rPr lang="en-US" dirty="0"/>
              <a:t>The physical symptoms experienced by the employees are mainly as a result of compounded stress. E.g. back pain experienced by young employees, compounding into arthritis when they get older.</a:t>
            </a:r>
          </a:p>
          <a:p>
            <a:pPr lvl="0"/>
            <a:r>
              <a:rPr lang="en-US" dirty="0"/>
              <a:t>The amount of stress each employee can take on without breaking down with a physical or emotional symptom reduces by age. i.e. young employees can handle more stress than the older employees.</a:t>
            </a:r>
          </a:p>
          <a:p>
            <a:pPr lvl="0"/>
            <a:r>
              <a:rPr lang="en-US" dirty="0"/>
              <a:t>Major physical stress is fatigue and back pain, while emotional stress is anxiety and depression. </a:t>
            </a:r>
          </a:p>
          <a:p>
            <a:pPr lvl="0"/>
            <a:r>
              <a:rPr lang="en-US" dirty="0"/>
              <a:t>Physical symptoms like Arthritis is mainly noticeable in employees above 55 years of age.</a:t>
            </a:r>
          </a:p>
          <a:p>
            <a:pPr lvl="0"/>
            <a:r>
              <a:rPr lang="en-US" dirty="0"/>
              <a:t>A correlation analysis done on the stress level, cortisol level and the heart rate of the employees shows that they are all positively correlated with a correlation of over +0.3, which shows a low but positive correlation.</a:t>
            </a:r>
          </a:p>
        </p:txBody>
      </p:sp>
    </p:spTree>
    <p:extLst>
      <p:ext uri="{BB962C8B-B14F-4D97-AF65-F5344CB8AC3E}">
        <p14:creationId xmlns:p14="http://schemas.microsoft.com/office/powerpoint/2010/main" val="28493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0146C-27EA-4E7C-B47F-D63D2FFC0F57}"/>
              </a:ext>
            </a:extLst>
          </p:cNvPr>
          <p:cNvSpPr>
            <a:spLocks noGrp="1"/>
          </p:cNvSpPr>
          <p:nvPr>
            <p:ph type="title"/>
          </p:nvPr>
        </p:nvSpPr>
        <p:spPr>
          <a:xfrm>
            <a:off x="1899922" y="1707161"/>
            <a:ext cx="14081754" cy="1588489"/>
          </a:xfrm>
        </p:spPr>
        <p:txBody>
          <a:bodyPr>
            <a:normAutofit fontScale="90000"/>
          </a:bodyPr>
          <a:lstStyle/>
          <a:p>
            <a:r>
              <a:rPr lang="en-US" b="1" u="sng" dirty="0"/>
              <a:t>Insights</a:t>
            </a:r>
            <a:r>
              <a:rPr lang="en-US" b="1" dirty="0"/>
              <a:t> </a:t>
            </a:r>
            <a:br>
              <a:rPr lang="en-US" dirty="0"/>
            </a:br>
            <a:endParaRPr lang="en-US" dirty="0"/>
          </a:p>
        </p:txBody>
      </p:sp>
      <p:sp>
        <p:nvSpPr>
          <p:cNvPr id="3" name="Content Placeholder 2">
            <a:extLst>
              <a:ext uri="{FF2B5EF4-FFF2-40B4-BE49-F238E27FC236}">
                <a16:creationId xmlns:a16="http://schemas.microsoft.com/office/drawing/2014/main" id="{6CA785A3-0079-41CC-947D-1DD772E5F22D}"/>
              </a:ext>
            </a:extLst>
          </p:cNvPr>
          <p:cNvSpPr>
            <a:spLocks noGrp="1"/>
          </p:cNvSpPr>
          <p:nvPr>
            <p:ph idx="1"/>
          </p:nvPr>
        </p:nvSpPr>
        <p:spPr/>
        <p:txBody>
          <a:bodyPr>
            <a:normAutofit fontScale="70000" lnSpcReduction="20000"/>
          </a:bodyPr>
          <a:lstStyle/>
          <a:p>
            <a:pPr lvl="0"/>
            <a:r>
              <a:rPr lang="en-US" dirty="0"/>
              <a:t>From the analysis, the major stressor in general was shown to be work. While most young employees suffer from school stress, work, relationships.</a:t>
            </a:r>
          </a:p>
          <a:p>
            <a:pPr lvl="0"/>
            <a:r>
              <a:rPr lang="en-US" dirty="0"/>
              <a:t>Middle-aged employees under go majorly financial issues and family issues while most old/advanced employees suffer from loneliness and health issues.</a:t>
            </a:r>
          </a:p>
          <a:p>
            <a:pPr lvl="0"/>
            <a:r>
              <a:rPr lang="en-US" dirty="0"/>
              <a:t>Although being the least stressor, some employees reported bullying as a stressor they are suffering from.</a:t>
            </a:r>
          </a:p>
          <a:p>
            <a:pPr lvl="0"/>
            <a:r>
              <a:rPr lang="en-US" dirty="0"/>
              <a:t>The most common and effective coping mechanism among young and middle-aged employees are Exercise, meditation, food and therapy. While the most common and efficient amongst advanced/older employees gardening, walking, reading and hobbies.</a:t>
            </a:r>
          </a:p>
          <a:p>
            <a:pPr lvl="0"/>
            <a:r>
              <a:rPr lang="en-US" dirty="0"/>
              <a:t>Sleep quality has a major impact on the stress level score of the employees.</a:t>
            </a:r>
          </a:p>
          <a:p>
            <a:pPr lvl="0"/>
            <a:r>
              <a:rPr lang="en-US" dirty="0"/>
              <a:t>Young and middle-aged employees suffering from severe stress are very prone to high blood pressure and other serious illness if not detected early enough and properly managed.</a:t>
            </a:r>
          </a:p>
          <a:p>
            <a:endParaRPr lang="en-US" dirty="0"/>
          </a:p>
          <a:p>
            <a:endParaRPr lang="en-US" dirty="0"/>
          </a:p>
        </p:txBody>
      </p:sp>
    </p:spTree>
    <p:extLst>
      <p:ext uri="{BB962C8B-B14F-4D97-AF65-F5344CB8AC3E}">
        <p14:creationId xmlns:p14="http://schemas.microsoft.com/office/powerpoint/2010/main" val="119717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B2CD4-96D5-47AC-B332-AFF37761AD7C}"/>
              </a:ext>
            </a:extLst>
          </p:cNvPr>
          <p:cNvSpPr>
            <a:spLocks noGrp="1"/>
          </p:cNvSpPr>
          <p:nvPr>
            <p:ph type="title"/>
          </p:nvPr>
        </p:nvSpPr>
        <p:spPr/>
        <p:txBody>
          <a:bodyPr>
            <a:normAutofit fontScale="90000"/>
          </a:bodyPr>
          <a:lstStyle/>
          <a:p>
            <a:r>
              <a:rPr lang="en-US" b="1" u="sng" dirty="0"/>
              <a:t>RECOMMENDATIONS</a:t>
            </a:r>
            <a:br>
              <a:rPr lang="en-US" dirty="0"/>
            </a:br>
            <a:endParaRPr lang="en-US" dirty="0"/>
          </a:p>
        </p:txBody>
      </p:sp>
      <p:sp>
        <p:nvSpPr>
          <p:cNvPr id="3" name="Content Placeholder 2">
            <a:extLst>
              <a:ext uri="{FF2B5EF4-FFF2-40B4-BE49-F238E27FC236}">
                <a16:creationId xmlns:a16="http://schemas.microsoft.com/office/drawing/2014/main" id="{2044D40B-F595-4ADC-A9AA-7FAA84C264D3}"/>
              </a:ext>
            </a:extLst>
          </p:cNvPr>
          <p:cNvSpPr>
            <a:spLocks noGrp="1"/>
          </p:cNvSpPr>
          <p:nvPr>
            <p:ph idx="1"/>
          </p:nvPr>
        </p:nvSpPr>
        <p:spPr>
          <a:xfrm>
            <a:off x="1899923" y="2950068"/>
            <a:ext cx="13740128" cy="5442092"/>
          </a:xfrm>
        </p:spPr>
        <p:txBody>
          <a:bodyPr>
            <a:noAutofit/>
          </a:bodyPr>
          <a:lstStyle/>
          <a:p>
            <a:pPr marL="0" indent="0">
              <a:buNone/>
            </a:pPr>
            <a:r>
              <a:rPr lang="en-US" sz="2400" dirty="0"/>
              <a:t>From the insights above, the following recommendations are suggested;</a:t>
            </a:r>
          </a:p>
          <a:p>
            <a:pPr lvl="0"/>
            <a:r>
              <a:rPr lang="en-US" sz="2400" dirty="0"/>
              <a:t>The organization should also create a proper structure that supports division of labor so as provide a healthy balance as to how much work an individual takes on.</a:t>
            </a:r>
          </a:p>
          <a:p>
            <a:pPr lvl="0"/>
            <a:r>
              <a:rPr lang="en-US" sz="2400" dirty="0"/>
              <a:t>Ensure the checking of the vitals (like stress level, heart rate, blood pressure, etc.) of every employee at regular intervals to spot any health issue early enough and administer the proper care that is needed</a:t>
            </a:r>
          </a:p>
          <a:p>
            <a:pPr lvl="0"/>
            <a:r>
              <a:rPr lang="en-US" sz="2400" dirty="0"/>
              <a:t>Provision of subsidy on gym registration for the employees since exercise is the most efficient coping mechanism.</a:t>
            </a:r>
          </a:p>
          <a:p>
            <a:pPr lvl="0"/>
            <a:r>
              <a:rPr lang="en-US" sz="2400" dirty="0"/>
              <a:t>A mandate to ensure that employees take their physical health(seriously) especially young and middle-aged employees, so as to prevent them from being affected by compounded stress (e.g. back pain and fatigue compounding to become arthritis) when they get older.</a:t>
            </a:r>
          </a:p>
          <a:p>
            <a:pPr lvl="0"/>
            <a:r>
              <a:rPr lang="en-US" sz="2400" dirty="0"/>
              <a:t>A strict law should be placed against bullying of any form as some young employees complained about bullying.</a:t>
            </a:r>
          </a:p>
        </p:txBody>
      </p:sp>
    </p:spTree>
    <p:extLst>
      <p:ext uri="{BB962C8B-B14F-4D97-AF65-F5344CB8AC3E}">
        <p14:creationId xmlns:p14="http://schemas.microsoft.com/office/powerpoint/2010/main" val="1364888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27BE-A703-46E6-AE58-8B36B221F66D}"/>
              </a:ext>
            </a:extLst>
          </p:cNvPr>
          <p:cNvSpPr>
            <a:spLocks noGrp="1"/>
          </p:cNvSpPr>
          <p:nvPr>
            <p:ph type="title"/>
          </p:nvPr>
        </p:nvSpPr>
        <p:spPr/>
        <p:txBody>
          <a:bodyPr/>
          <a:lstStyle/>
          <a:p>
            <a:r>
              <a:rPr lang="en-US" dirty="0"/>
              <a:t>Recommendation cont.</a:t>
            </a:r>
          </a:p>
        </p:txBody>
      </p:sp>
      <p:sp>
        <p:nvSpPr>
          <p:cNvPr id="3" name="Content Placeholder 2">
            <a:extLst>
              <a:ext uri="{FF2B5EF4-FFF2-40B4-BE49-F238E27FC236}">
                <a16:creationId xmlns:a16="http://schemas.microsoft.com/office/drawing/2014/main" id="{B8ED753B-1977-4A5B-A872-83415843F916}"/>
              </a:ext>
            </a:extLst>
          </p:cNvPr>
          <p:cNvSpPr>
            <a:spLocks noGrp="1"/>
          </p:cNvSpPr>
          <p:nvPr>
            <p:ph idx="1"/>
          </p:nvPr>
        </p:nvSpPr>
        <p:spPr/>
        <p:txBody>
          <a:bodyPr>
            <a:normAutofit fontScale="62500" lnSpcReduction="20000"/>
          </a:bodyPr>
          <a:lstStyle/>
          <a:p>
            <a:pPr lvl="0"/>
            <a:r>
              <a:rPr lang="en-US" dirty="0"/>
              <a:t>The most common stressor is work and financial issues, hence seminars and workshop should be provided on work-life balance and financial literacy.</a:t>
            </a:r>
          </a:p>
          <a:p>
            <a:pPr lvl="0"/>
            <a:r>
              <a:rPr lang="en-US" dirty="0"/>
              <a:t>Therapy sessions should be provided for employees with signs of depression.</a:t>
            </a:r>
          </a:p>
          <a:p>
            <a:pPr lvl="0"/>
            <a:r>
              <a:rPr lang="en-US" dirty="0"/>
              <a:t>Easy access to food or provision of stipends for food should be made for employees, as this also helps to cope against stress.</a:t>
            </a:r>
          </a:p>
          <a:p>
            <a:pPr lvl="0"/>
            <a:r>
              <a:rPr lang="en-US" dirty="0"/>
              <a:t>Quality sleep should be encouraged among employees, as it helps to reduce their stress levels. </a:t>
            </a:r>
          </a:p>
          <a:p>
            <a:pPr lvl="0"/>
            <a:r>
              <a:rPr lang="en-US" dirty="0"/>
              <a:t>Old/advanced employees should be encouraged to join social clubs (like book clubs or whatever hobbies they choose) of their age brackets or encouraged to spend more time with family as this would help them cope against loneliness.</a:t>
            </a:r>
          </a:p>
          <a:p>
            <a:pPr lvl="0"/>
            <a:r>
              <a:rPr lang="en-US" dirty="0"/>
              <a:t>Instead of gyms, old /advanced employees can be provided with an avenue to practice walking as this also helps them deal with stress. </a:t>
            </a:r>
          </a:p>
          <a:p>
            <a:pPr lvl="0"/>
            <a:r>
              <a:rPr lang="en-US" dirty="0"/>
              <a:t>And lastly, the company should consider reducing the retirement age of the employees.</a:t>
            </a:r>
          </a:p>
        </p:txBody>
      </p:sp>
    </p:spTree>
    <p:extLst>
      <p:ext uri="{BB962C8B-B14F-4D97-AF65-F5344CB8AC3E}">
        <p14:creationId xmlns:p14="http://schemas.microsoft.com/office/powerpoint/2010/main" val="3756142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684FF4-D37F-45C8-8096-084EC1A66B37}"/>
              </a:ext>
            </a:extLst>
          </p:cNvPr>
          <p:cNvSpPr>
            <a:spLocks noGrp="1"/>
          </p:cNvSpPr>
          <p:nvPr>
            <p:ph idx="1"/>
          </p:nvPr>
        </p:nvSpPr>
        <p:spPr/>
        <p:txBody>
          <a:bodyPr/>
          <a:lstStyle/>
          <a:p>
            <a:r>
              <a:rPr lang="en-US" dirty="0"/>
              <a:t>THANKS</a:t>
            </a:r>
          </a:p>
          <a:p>
            <a:endParaRPr lang="en-US" dirty="0"/>
          </a:p>
        </p:txBody>
      </p:sp>
    </p:spTree>
    <p:extLst>
      <p:ext uri="{BB962C8B-B14F-4D97-AF65-F5344CB8AC3E}">
        <p14:creationId xmlns:p14="http://schemas.microsoft.com/office/powerpoint/2010/main" val="363805450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9541</TotalTime>
  <Words>1093</Words>
  <Application>Microsoft Office PowerPoint</Application>
  <PresentationFormat>Custom</PresentationFormat>
  <Paragraphs>111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Garamond</vt:lpstr>
      <vt:lpstr>Times New Roman</vt:lpstr>
      <vt:lpstr>Organic</vt:lpstr>
      <vt:lpstr>WILLIAMS LIMITED STRESS ANALYSIS</vt:lpstr>
      <vt:lpstr>Background</vt:lpstr>
      <vt:lpstr>Data description</vt:lpstr>
      <vt:lpstr>Data description cont.</vt:lpstr>
      <vt:lpstr>Problem statement</vt:lpstr>
      <vt:lpstr>Objectives </vt:lpstr>
      <vt:lpstr>Dashboard overview</vt:lpstr>
      <vt:lpstr>Employee Details</vt:lpstr>
      <vt:lpstr>ANALYSIS</vt:lpstr>
      <vt:lpstr>PowerPoint Presentation</vt:lpstr>
      <vt:lpstr>Insights </vt:lpstr>
      <vt:lpstr>Insights  </vt:lpstr>
      <vt:lpstr>RECOMMENDATIONS </vt:lpstr>
      <vt:lpstr>Recommendation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CADVICKS LIMITED STRESS ANALYSIS</dc:title>
  <dc:creator>user</dc:creator>
  <cp:lastModifiedBy>user</cp:lastModifiedBy>
  <cp:revision>33</cp:revision>
  <dcterms:created xsi:type="dcterms:W3CDTF">2024-08-31T12:21:43Z</dcterms:created>
  <dcterms:modified xsi:type="dcterms:W3CDTF">2024-10-13T20:48:56Z</dcterms:modified>
</cp:coreProperties>
</file>